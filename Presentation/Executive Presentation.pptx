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7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6" r:id="rId16"/>
    <p:sldId id="277" r:id="rId17"/>
    <p:sldId id="269" r:id="rId18"/>
  </p:sldIdLst>
  <p:sldSz cx="18288000" cy="10287000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Poppins" panose="00000500000000000000" pitchFamily="2" charset="0"/>
      <p:regular r:id="rId24"/>
      <p:bold r:id="rId25"/>
    </p:embeddedFont>
    <p:embeddedFont>
      <p:font typeface="Poppins Bold" panose="00000800000000000000" pitchFamily="2" charset="0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4541"/>
    <a:srgbClr val="EBEE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082" autoAdjust="0"/>
  </p:normalViewPr>
  <p:slideViewPr>
    <p:cSldViewPr showGuides="1">
      <p:cViewPr varScale="1">
        <p:scale>
          <a:sx n="70" d="100"/>
          <a:sy n="70" d="100"/>
        </p:scale>
        <p:origin x="77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FA8A89-8AE2-41D4-B142-AD79917DD22A}" type="datetimeFigureOut">
              <a:rPr lang="en-ZA" smtClean="0"/>
              <a:t>2025/11/17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A367FA-087D-430B-A8EC-C19C94B451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899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AB943-8B6A-462F-99C5-30A49339CF94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F0A79-5A01-4BC6-BC8A-0B00AFD7CCC0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43154-6268-422F-AC19-C9B8500C8403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36C69-45E0-4EE5-93C5-4B0520748AFE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EA55-3B7F-496E-AE06-991FEBE52AF8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2E6A8-974F-4F71-ACF3-94485A36B0A1}" type="datetime1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0F7A0-8D70-4B72-B48E-C2EBAC4059F7}" type="datetime1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516AB-8BC4-4D1C-992E-826A5ED59384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6DE8F-ECD3-41F7-A2E3-328D4109402F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9193A-57F5-47B6-8DB6-5FAEC48762C2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9959-BC25-4BA5-9A0F-27DB659B0531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76132-090B-4FD7-B048-1D803BA4515B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4"/>
          <p:cNvSpPr/>
          <p:nvPr/>
        </p:nvSpPr>
        <p:spPr>
          <a:xfrm>
            <a:off x="0" y="1260579"/>
            <a:ext cx="18288000" cy="3174656"/>
          </a:xfrm>
          <a:custGeom>
            <a:avLst/>
            <a:gdLst/>
            <a:ahLst/>
            <a:cxnLst/>
            <a:rect l="l" t="t" r="r" b="b"/>
            <a:pathLst>
              <a:path w="14449778" h="2508371">
                <a:moveTo>
                  <a:pt x="0" y="0"/>
                </a:moveTo>
                <a:lnTo>
                  <a:pt x="14449778" y="0"/>
                </a:lnTo>
                <a:lnTo>
                  <a:pt x="14449778" y="2508371"/>
                </a:lnTo>
                <a:lnTo>
                  <a:pt x="0" y="2508371"/>
                </a:lnTo>
                <a:close/>
              </a:path>
            </a:pathLst>
          </a:custGeom>
          <a:solidFill>
            <a:srgbClr val="1E4541">
              <a:alpha val="80000"/>
            </a:srgbClr>
          </a:solidFill>
        </p:spPr>
      </p:sp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59300" y="0"/>
            <a:ext cx="1028700" cy="10287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66800" y="1785116"/>
            <a:ext cx="15925800" cy="2033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340"/>
              </a:lnSpc>
              <a:spcBef>
                <a:spcPct val="0"/>
              </a:spcBef>
            </a:pPr>
            <a:r>
              <a:rPr lang="en-US" sz="8000" dirty="0">
                <a:solidFill>
                  <a:srgbClr val="1E4541"/>
                </a:solidFill>
                <a:latin typeface="Poppins Bold"/>
                <a:ea typeface="Poppins Bold"/>
                <a:cs typeface="Poppins Bold"/>
                <a:sym typeface="Poppins Bold"/>
              </a:rPr>
              <a:t>Sales Analysis</a:t>
            </a:r>
          </a:p>
        </p:txBody>
      </p:sp>
      <p:sp>
        <p:nvSpPr>
          <p:cNvPr id="9" name="{KPI_group_title}"/>
          <p:cNvSpPr txBox="1"/>
          <p:nvPr/>
        </p:nvSpPr>
        <p:spPr>
          <a:xfrm>
            <a:off x="16002000" y="9258300"/>
            <a:ext cx="2971800" cy="384721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28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2025-11-17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B4123-B53D-47B8-E8DC-127A41EBB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38852-51B2-0010-B36D-313E900F3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">
            <a:extLst>
              <a:ext uri="{FF2B5EF4-FFF2-40B4-BE49-F238E27FC236}">
                <a16:creationId xmlns:a16="http://schemas.microsoft.com/office/drawing/2014/main" id="{5CEC2A29-BFCC-4F8A-AF39-9C887E45B515}"/>
              </a:ext>
            </a:extLst>
          </p:cNvPr>
          <p:cNvGrpSpPr/>
          <p:nvPr/>
        </p:nvGrpSpPr>
        <p:grpSpPr>
          <a:xfrm>
            <a:off x="17259300" y="0"/>
            <a:ext cx="1028700" cy="1028700"/>
            <a:chOff x="0" y="0"/>
            <a:chExt cx="812800" cy="812800"/>
          </a:xfrm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0DB04E0F-7C80-F4E6-31AB-DA1191D0DB8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24" name="TextBox 4">
              <a:extLst>
                <a:ext uri="{FF2B5EF4-FFF2-40B4-BE49-F238E27FC236}">
                  <a16:creationId xmlns:a16="http://schemas.microsoft.com/office/drawing/2014/main" id="{3E7FE8BD-F6E6-6584-C48D-7ADEF6AC8095}"/>
                </a:ext>
              </a:extLst>
            </p:cNvPr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41" name="{Paragraph_title}">
            <a:extLst>
              <a:ext uri="{FF2B5EF4-FFF2-40B4-BE49-F238E27FC236}">
                <a16:creationId xmlns:a16="http://schemas.microsoft.com/office/drawing/2014/main" id="{7A41E4CA-9C06-A606-9EE6-5C88B2EEE9BC}"/>
              </a:ext>
            </a:extLst>
          </p:cNvPr>
          <p:cNvSpPr txBox="1"/>
          <p:nvPr/>
        </p:nvSpPr>
        <p:spPr>
          <a:xfrm>
            <a:off x="1020536" y="1658104"/>
            <a:ext cx="16238764" cy="723275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5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4200" kern="0" dirty="0">
                <a:solidFill>
                  <a:srgbClr val="1E4541"/>
                </a:solidFill>
                <a:latin typeface="Poppins" pitchFamily="2" charset="77"/>
                <a:ea typeface="Helvetica Neue"/>
                <a:cs typeface="Poppins" pitchFamily="2" charset="77"/>
              </a:rPr>
              <a:t>Executive summary</a:t>
            </a:r>
            <a:endParaRPr sz="4200" kern="0" dirty="0">
              <a:solidFill>
                <a:srgbClr val="1E4541"/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42" name="{Paragraph_content}">
            <a:extLst>
              <a:ext uri="{FF2B5EF4-FFF2-40B4-BE49-F238E27FC236}">
                <a16:creationId xmlns:a16="http://schemas.microsoft.com/office/drawing/2014/main" id="{2795AED0-5DBA-44E9-C921-990F243F4171}"/>
              </a:ext>
            </a:extLst>
          </p:cNvPr>
          <p:cNvSpPr txBox="1"/>
          <p:nvPr/>
        </p:nvSpPr>
        <p:spPr>
          <a:xfrm>
            <a:off x="999229" y="2998841"/>
            <a:ext cx="16289543" cy="5924699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spAutoFit/>
          </a:bodyPr>
          <a:lstStyle/>
          <a:p>
            <a:pPr marL="342900" indent="-342900" defTabSz="1828800" hangingPunct="0">
              <a:buFont typeface="Arial" panose="020B0604020202020204" pitchFamily="34" charset="0"/>
              <a:buChar char="•"/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GB" sz="20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This presentation provides a clear view of the product’s sales, pricing, and profitability performance over time. </a:t>
            </a: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lang="en-GB"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marL="342900" indent="-342900" defTabSz="1828800" hangingPunct="0">
              <a:buFont typeface="Arial" panose="020B0604020202020204" pitchFamily="34" charset="0"/>
              <a:buChar char="•"/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GB" sz="20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Monthly sales and quantity trends show how demand fluctuates across the year, helping identify stronger and weaker trading periods. </a:t>
            </a: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lang="en-GB"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marL="342900" indent="-342900" defTabSz="1828800" hangingPunct="0">
              <a:buFont typeface="Arial" panose="020B0604020202020204" pitchFamily="34" charset="0"/>
              <a:buChar char="•"/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GB" sz="20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Pricing analysis highlights the daily and monthly movement in unit prices, while price-band views show how customers respond at different price levels.</a:t>
            </a: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lang="en-GB"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marL="342900" indent="-342900" defTabSz="1828800" hangingPunct="0">
              <a:buFont typeface="Arial" panose="020B0604020202020204" pitchFamily="34" charset="0"/>
              <a:buChar char="•"/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GB" sz="20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Profitability metrics—including Gross Profit % and Gross Profit per Unit—demonstrate how efficiently the product generates margin, and how this changes with cost and price movements. </a:t>
            </a: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lang="en-GB"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marL="342900" indent="-342900" defTabSz="1828800" hangingPunct="0">
              <a:buFont typeface="Arial" panose="020B0604020202020204" pitchFamily="34" charset="0"/>
              <a:buChar char="•"/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GB" sz="20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Comparing price trends with quantities sold provides a quick understanding of demand sensitivity and overall pricing effectiveness.</a:t>
            </a: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lang="en-GB"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marL="342900" indent="-342900" defTabSz="1828800" hangingPunct="0">
              <a:buFont typeface="Arial" panose="020B0604020202020204" pitchFamily="34" charset="0"/>
              <a:buChar char="•"/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GB" sz="20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Key KPIs such as Average Unit Price, Total Quantity Sold, Average Gross Profit %, and Total Gross Profit summarize performance at a glance. </a:t>
            </a:r>
          </a:p>
          <a:p>
            <a:pPr marL="342900" indent="-342900" defTabSz="1828800" hangingPunct="0">
              <a:buFont typeface="Arial" panose="020B0604020202020204" pitchFamily="34" charset="0"/>
              <a:buChar char="•"/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lang="en-GB"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marL="342900" indent="-342900" defTabSz="1828800" hangingPunct="0">
              <a:buFont typeface="Arial" panose="020B0604020202020204" pitchFamily="34" charset="0"/>
              <a:buChar char="•"/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GB" sz="20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Together, the visuals and pivots provide a concise, insight-driven view that supports better pricing decisions, sales planning, and margin management.</a:t>
            </a: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56" name="TextBox 18">
            <a:extLst>
              <a:ext uri="{FF2B5EF4-FFF2-40B4-BE49-F238E27FC236}">
                <a16:creationId xmlns:a16="http://schemas.microsoft.com/office/drawing/2014/main" id="{93B773FA-9BDB-CB67-F200-39A0D7EED8C3}"/>
              </a:ext>
            </a:extLst>
          </p:cNvPr>
          <p:cNvSpPr txBox="1"/>
          <p:nvPr/>
        </p:nvSpPr>
        <p:spPr>
          <a:xfrm>
            <a:off x="10646383" y="6472012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</a:t>
            </a:r>
            <a:r>
              <a:rPr lang="en-US" altLang="zh-CN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  <a:endParaRPr lang="en-US" sz="1800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DED941-8B98-16D7-4CED-C93E6FB1EFD1}"/>
              </a:ext>
            </a:extLst>
          </p:cNvPr>
          <p:cNvSpPr txBox="1"/>
          <p:nvPr/>
        </p:nvSpPr>
        <p:spPr>
          <a:xfrm>
            <a:off x="17288772" y="9639300"/>
            <a:ext cx="770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8A2FC81-64DF-4F4E-B3E5-084C6CB2C098}" type="slidenum">
              <a:rPr lang="en-ZA" smtClean="0"/>
              <a:t>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27146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"/>
          <p:cNvGrpSpPr/>
          <p:nvPr/>
        </p:nvGrpSpPr>
        <p:grpSpPr>
          <a:xfrm>
            <a:off x="17259300" y="0"/>
            <a:ext cx="1028700" cy="1028700"/>
            <a:chOff x="0" y="0"/>
            <a:chExt cx="812800" cy="812800"/>
          </a:xfrm>
        </p:grpSpPr>
        <p:sp>
          <p:nvSpPr>
            <p:cNvPr id="2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2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{Kpi_value}"/>
          <p:cNvSpPr txBox="1"/>
          <p:nvPr/>
        </p:nvSpPr>
        <p:spPr>
          <a:xfrm>
            <a:off x="6590194" y="7469713"/>
            <a:ext cx="5046101" cy="569387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>
            <a:spAutoFit/>
          </a:bodyPr>
          <a:lstStyle>
            <a:lvl1pPr>
              <a:defRPr sz="6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3200" kern="0" dirty="0">
                <a:solidFill>
                  <a:srgbClr val="1E4541"/>
                </a:solidFill>
                <a:latin typeface="Poppins" pitchFamily="2" charset="77"/>
                <a:ea typeface="Helvetica Neue"/>
                <a:cs typeface="Poppins" pitchFamily="2" charset="77"/>
              </a:rPr>
              <a:t>-330%</a:t>
            </a:r>
            <a:endParaRPr sz="3200" kern="0" dirty="0">
              <a:solidFill>
                <a:srgbClr val="1E4541"/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11" name="{Kpi_summary}"/>
          <p:cNvSpPr txBox="1"/>
          <p:nvPr/>
        </p:nvSpPr>
        <p:spPr>
          <a:xfrm>
            <a:off x="7164736" y="8282853"/>
            <a:ext cx="3958529" cy="384721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spAutoFit/>
          </a:bodyPr>
          <a:lstStyle>
            <a:lvl1pPr>
              <a:defRPr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20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itchFamily="2" charset="77"/>
                <a:ea typeface="Helvetica Neue"/>
                <a:cs typeface="Poppins" pitchFamily="2" charset="77"/>
              </a:rPr>
              <a:t>Average gross profit percentage shows critical issues</a:t>
            </a: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12" name="{Kpi_title}"/>
          <p:cNvSpPr txBox="1"/>
          <p:nvPr/>
        </p:nvSpPr>
        <p:spPr>
          <a:xfrm>
            <a:off x="6663418" y="6822688"/>
            <a:ext cx="4953000" cy="446276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>
              <a:defRPr b="1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24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itchFamily="2" charset="77"/>
                <a:ea typeface="Helvetica Neue"/>
                <a:cs typeface="Poppins" pitchFamily="2" charset="77"/>
              </a:rPr>
              <a:t>Margin Rate</a:t>
            </a:r>
            <a:endParaRPr sz="24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18" name="{Kpi_value}"/>
          <p:cNvSpPr txBox="1"/>
          <p:nvPr/>
        </p:nvSpPr>
        <p:spPr>
          <a:xfrm>
            <a:off x="11701141" y="7454561"/>
            <a:ext cx="5062859" cy="569387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>
            <a:spAutoFit/>
          </a:bodyPr>
          <a:lstStyle>
            <a:lvl1pPr>
              <a:defRPr sz="6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3200" kern="0" dirty="0">
                <a:solidFill>
                  <a:srgbClr val="1E4541"/>
                </a:solidFill>
                <a:latin typeface="Poppins" pitchFamily="2" charset="77"/>
                <a:ea typeface="Helvetica Neue"/>
                <a:cs typeface="Poppins" pitchFamily="2" charset="77"/>
              </a:rPr>
              <a:t>-0.62</a:t>
            </a:r>
            <a:endParaRPr sz="3200" kern="0" dirty="0">
              <a:solidFill>
                <a:srgbClr val="1E4541"/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19" name="{Kpi_summary}"/>
          <p:cNvSpPr txBox="1"/>
          <p:nvPr/>
        </p:nvSpPr>
        <p:spPr>
          <a:xfrm>
            <a:off x="12015129" y="8282853"/>
            <a:ext cx="4320646" cy="384721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spAutoFit/>
          </a:bodyPr>
          <a:lstStyle>
            <a:lvl1pPr>
              <a:defRPr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20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itchFamily="2" charset="77"/>
                <a:ea typeface="Helvetica Neue"/>
                <a:cs typeface="Poppins" pitchFamily="2" charset="77"/>
              </a:rPr>
              <a:t>Negative elasticity suggests price-sensitive customers</a:t>
            </a: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20" name="{Kpi_title}"/>
          <p:cNvSpPr txBox="1"/>
          <p:nvPr/>
        </p:nvSpPr>
        <p:spPr>
          <a:xfrm>
            <a:off x="11724204" y="6819900"/>
            <a:ext cx="4953000" cy="446276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>
              <a:defRPr b="1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24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itchFamily="2" charset="77"/>
                <a:ea typeface="Helvetica Neue"/>
                <a:cs typeface="Poppins" pitchFamily="2" charset="77"/>
              </a:rPr>
              <a:t>Price Elasticity</a:t>
            </a:r>
            <a:endParaRPr sz="24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21" name="{Paragraph_title}"/>
          <p:cNvSpPr txBox="1"/>
          <p:nvPr/>
        </p:nvSpPr>
        <p:spPr>
          <a:xfrm>
            <a:off x="1020536" y="1658104"/>
            <a:ext cx="16238764" cy="723275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5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4200" kern="0" dirty="0">
                <a:solidFill>
                  <a:srgbClr val="1E4541"/>
                </a:solidFill>
                <a:latin typeface="Poppins" pitchFamily="2" charset="77"/>
                <a:ea typeface="Helvetica Neue"/>
                <a:cs typeface="Poppins" pitchFamily="2" charset="77"/>
              </a:rPr>
              <a:t>Critical Financial Challenges Identified</a:t>
            </a:r>
            <a:endParaRPr sz="4200" kern="0" dirty="0">
              <a:solidFill>
                <a:srgbClr val="1E4541"/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25" name="{Paragraph_content}"/>
          <p:cNvSpPr txBox="1"/>
          <p:nvPr/>
        </p:nvSpPr>
        <p:spPr>
          <a:xfrm>
            <a:off x="999229" y="3124192"/>
            <a:ext cx="16289543" cy="1000274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spAutoFit/>
          </a:bodyPr>
          <a:lstStyle/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0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The FACT_SALES data reveals significant business challenges with overall negative gross profit of -$7.1M across the analysis period, indicating urgent need for strategic intervention. Monthly sales patterns show strong seasonality with Q4 peaks, particularly November-December periods achieving highest sales volumes.</a:t>
            </a: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26" name="{Kpi_value}"/>
          <p:cNvSpPr txBox="1"/>
          <p:nvPr/>
        </p:nvSpPr>
        <p:spPr>
          <a:xfrm>
            <a:off x="1441680" y="7454561"/>
            <a:ext cx="4953000" cy="569387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>
            <a:spAutoFit/>
          </a:bodyPr>
          <a:lstStyle>
            <a:lvl1pPr>
              <a:defRPr sz="6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3200" kern="0" dirty="0">
                <a:solidFill>
                  <a:srgbClr val="1E4541"/>
                </a:solidFill>
                <a:latin typeface="Poppins" pitchFamily="2" charset="77"/>
                <a:ea typeface="Helvetica Neue"/>
                <a:cs typeface="Poppins" pitchFamily="2" charset="77"/>
              </a:rPr>
              <a:t>-$7.1M</a:t>
            </a:r>
            <a:endParaRPr sz="3200" kern="0" dirty="0">
              <a:solidFill>
                <a:srgbClr val="1E4541"/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27" name="{Kpi_summary}"/>
          <p:cNvSpPr txBox="1"/>
          <p:nvPr/>
        </p:nvSpPr>
        <p:spPr>
          <a:xfrm>
            <a:off x="2183130" y="8267700"/>
            <a:ext cx="3518657" cy="384721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spAutoFit/>
          </a:bodyPr>
          <a:lstStyle>
            <a:lvl1pPr>
              <a:defRPr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20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itchFamily="2" charset="77"/>
                <a:ea typeface="Helvetica Neue"/>
                <a:cs typeface="Poppins" pitchFamily="2" charset="77"/>
              </a:rPr>
              <a:t>Overall negative gross profit indicating urgent need</a:t>
            </a: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28" name="{Kpi_title}"/>
          <p:cNvSpPr txBox="1"/>
          <p:nvPr/>
        </p:nvSpPr>
        <p:spPr>
          <a:xfrm>
            <a:off x="1519975" y="6820097"/>
            <a:ext cx="4953000" cy="446276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>
              <a:defRPr b="1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24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itchFamily="2" charset="77"/>
                <a:ea typeface="Helvetica Neue"/>
                <a:cs typeface="Poppins" pitchFamily="2" charset="77"/>
              </a:rPr>
              <a:t>Gross Profit</a:t>
            </a:r>
            <a:endParaRPr sz="24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grpSp>
        <p:nvGrpSpPr>
          <p:cNvPr id="29" name="Group 14"/>
          <p:cNvGrpSpPr/>
          <p:nvPr/>
        </p:nvGrpSpPr>
        <p:grpSpPr>
          <a:xfrm>
            <a:off x="3657600" y="6010964"/>
            <a:ext cx="677751" cy="677751"/>
            <a:chOff x="0" y="0"/>
            <a:chExt cx="812800" cy="812800"/>
          </a:xfrm>
        </p:grpSpPr>
        <p:sp>
          <p:nvSpPr>
            <p:cNvPr id="30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31" name="TextBox 16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32" name="TextBox 18"/>
          <p:cNvSpPr txBox="1"/>
          <p:nvPr/>
        </p:nvSpPr>
        <p:spPr>
          <a:xfrm>
            <a:off x="3748420" y="6186961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grpSp>
        <p:nvGrpSpPr>
          <p:cNvPr id="33" name="Group 14"/>
          <p:cNvGrpSpPr/>
          <p:nvPr/>
        </p:nvGrpSpPr>
        <p:grpSpPr>
          <a:xfrm>
            <a:off x="8805124" y="6010964"/>
            <a:ext cx="677751" cy="677751"/>
            <a:chOff x="0" y="0"/>
            <a:chExt cx="812800" cy="812800"/>
          </a:xfrm>
        </p:grpSpPr>
        <p:sp>
          <p:nvSpPr>
            <p:cNvPr id="34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35" name="TextBox 16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36" name="TextBox 18"/>
          <p:cNvSpPr txBox="1"/>
          <p:nvPr/>
        </p:nvSpPr>
        <p:spPr>
          <a:xfrm>
            <a:off x="8895944" y="6186961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</a:t>
            </a:r>
            <a:r>
              <a:rPr lang="en-US" altLang="zh-CN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  <a:endParaRPr lang="en-US" sz="1800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37" name="Group 14"/>
          <p:cNvGrpSpPr/>
          <p:nvPr/>
        </p:nvGrpSpPr>
        <p:grpSpPr>
          <a:xfrm>
            <a:off x="13861829" y="6008451"/>
            <a:ext cx="677751" cy="677751"/>
            <a:chOff x="0" y="0"/>
            <a:chExt cx="812800" cy="812800"/>
          </a:xfrm>
        </p:grpSpPr>
        <p:sp>
          <p:nvSpPr>
            <p:cNvPr id="38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39" name="TextBox 16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40" name="TextBox 18"/>
          <p:cNvSpPr txBox="1"/>
          <p:nvPr/>
        </p:nvSpPr>
        <p:spPr>
          <a:xfrm>
            <a:off x="13952649" y="6184448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</a:t>
            </a:r>
            <a:r>
              <a:rPr lang="en-US" altLang="zh-CN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  <a:endParaRPr lang="en-US" sz="1800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0FC322-9FF9-D2E4-5C06-DBA14F75D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86F696-6C2D-F98E-7D8C-5FC4FF00834C}"/>
              </a:ext>
            </a:extLst>
          </p:cNvPr>
          <p:cNvSpPr txBox="1"/>
          <p:nvPr/>
        </p:nvSpPr>
        <p:spPr>
          <a:xfrm>
            <a:off x="17259300" y="9563100"/>
            <a:ext cx="8001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CB87D59-20CE-4DC6-876D-42364F195D88}" type="slidenum">
              <a:rPr lang="en-ZA" smtClean="0"/>
              <a:t>3</a:t>
            </a:fld>
            <a:endParaRPr lang="en-ZA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"/>
          <p:cNvGrpSpPr/>
          <p:nvPr/>
        </p:nvGrpSpPr>
        <p:grpSpPr>
          <a:xfrm>
            <a:off x="17259300" y="0"/>
            <a:ext cx="1028700" cy="1028700"/>
            <a:chOff x="0" y="0"/>
            <a:chExt cx="812800" cy="812800"/>
          </a:xfrm>
        </p:grpSpPr>
        <p:sp>
          <p:nvSpPr>
            <p:cNvPr id="2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2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30" name="AutoShape 20"/>
          <p:cNvSpPr/>
          <p:nvPr/>
        </p:nvSpPr>
        <p:spPr>
          <a:xfrm flipV="1">
            <a:off x="3200400" y="2281976"/>
            <a:ext cx="0" cy="6841573"/>
          </a:xfrm>
          <a:prstGeom prst="line">
            <a:avLst/>
          </a:prstGeom>
          <a:ln w="9525" cap="flat">
            <a:solidFill>
              <a:srgbClr val="1E454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{Paragraph_title}"/>
          <p:cNvSpPr txBox="1"/>
          <p:nvPr/>
        </p:nvSpPr>
        <p:spPr>
          <a:xfrm>
            <a:off x="685800" y="1028700"/>
            <a:ext cx="16459198" cy="629920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28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Inter" pitchFamily="2" charset="0"/>
                <a:cs typeface="Poppins" pitchFamily="2" charset="77"/>
                <a:sym typeface="Helvetica Neue"/>
              </a:rPr>
              <a:t>Comprehensive Business Analysis</a:t>
            </a:r>
          </a:p>
        </p:txBody>
      </p:sp>
      <p:sp>
        <p:nvSpPr>
          <p:cNvPr id="12" name="{Paragraph_title}"/>
          <p:cNvSpPr txBox="1"/>
          <p:nvPr/>
        </p:nvSpPr>
        <p:spPr>
          <a:xfrm>
            <a:off x="3875998" y="2281976"/>
            <a:ext cx="13383302" cy="445135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5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Monthly Sales Performance Trend</a:t>
            </a:r>
          </a:p>
        </p:txBody>
      </p:sp>
      <p:sp>
        <p:nvSpPr>
          <p:cNvPr id="13" name="{Paragraph_content}"/>
          <p:cNvSpPr txBox="1"/>
          <p:nvPr/>
        </p:nvSpPr>
        <p:spPr>
          <a:xfrm>
            <a:off x="3875998" y="2850449"/>
            <a:ext cx="13116599" cy="999490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/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Montserrat" pitchFamily="2" charset="77"/>
                <a:ea typeface="Helvetica Neue"/>
                <a:cs typeface="Helvetica Neue"/>
                <a:sym typeface="Helvetica Neue"/>
              </a:rPr>
              <a:t>Analysis of monthly sales value, quantity, and growth patterns from 2013-2016, revealing seasonal peaks in November-December and identifying business cycle patterns through trend analysis of 36+ months of transaction data.</a:t>
            </a:r>
          </a:p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Montserrat" pitchFamily="2" charset="77"/>
              <a:ea typeface="Helvetica Neue"/>
              <a:cs typeface="Helvetica Neue"/>
              <a:sym typeface="Helvetica Neue"/>
            </a:endParaRPr>
          </a:p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Montserrat" pitchFamily="2" charset="77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" name="{Paragraph_title}"/>
          <p:cNvSpPr txBox="1"/>
          <p:nvPr/>
        </p:nvSpPr>
        <p:spPr>
          <a:xfrm>
            <a:off x="3875998" y="4728334"/>
            <a:ext cx="13383302" cy="445135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5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Gross Margin Deterioration Pattern</a:t>
            </a:r>
          </a:p>
        </p:txBody>
      </p:sp>
      <p:sp>
        <p:nvSpPr>
          <p:cNvPr id="15" name="{Paragraph_content}"/>
          <p:cNvSpPr txBox="1"/>
          <p:nvPr/>
        </p:nvSpPr>
        <p:spPr>
          <a:xfrm>
            <a:off x="3875998" y="5296807"/>
            <a:ext cx="13116599" cy="1306830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/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Montserrat" pitchFamily="2" charset="77"/>
                <a:ea typeface="Helvetica Neue"/>
                <a:cs typeface="Helvetica Neue"/>
                <a:sym typeface="Helvetica Neue"/>
              </a:rPr>
              <a:t>Comprehensive evaluation of margin performance showing negative gross profit trends across promotional and non-promotional sales, with detailed analysis of unit economics and profitability challenges impacting business sustainability.</a:t>
            </a:r>
          </a:p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Montserrat" pitchFamily="2" charset="77"/>
              <a:ea typeface="Helvetica Neue"/>
              <a:cs typeface="Helvetica Neue"/>
              <a:sym typeface="Helvetica Neue"/>
            </a:endParaRPr>
          </a:p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Montserrat" pitchFamily="2" charset="77"/>
              <a:ea typeface="Helvetica Neue"/>
              <a:cs typeface="Helvetica Neue"/>
              <a:sym typeface="Helvetica Neue"/>
            </a:endParaRPr>
          </a:p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Montserrat" pitchFamily="2" charset="77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" name="{Paragraph_title}"/>
          <p:cNvSpPr txBox="1"/>
          <p:nvPr/>
        </p:nvSpPr>
        <p:spPr>
          <a:xfrm>
            <a:off x="3875998" y="7174692"/>
            <a:ext cx="13383302" cy="445135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5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Promotional Impact on Sales Volume</a:t>
            </a:r>
          </a:p>
        </p:txBody>
      </p:sp>
      <p:sp>
        <p:nvSpPr>
          <p:cNvPr id="17" name="{Paragraph_content}"/>
          <p:cNvSpPr txBox="1"/>
          <p:nvPr/>
        </p:nvSpPr>
        <p:spPr>
          <a:xfrm>
            <a:off x="3875998" y="7743165"/>
            <a:ext cx="13116599" cy="999490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/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Montserrat" pitchFamily="2" charset="77"/>
                <a:ea typeface="Helvetica Neue"/>
                <a:cs typeface="Helvetica Neue"/>
                <a:sym typeface="Helvetica Neue"/>
              </a:rPr>
              <a:t>Statistical comparison of promotional vs non-promotional sales performance, analyzing volume lift, margin impact, and promotional effectiveness across different time periods using actual transaction data and industry benchmarks.</a:t>
            </a:r>
          </a:p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Montserrat" pitchFamily="2" charset="77"/>
              <a:ea typeface="Helvetica Neue"/>
              <a:cs typeface="Helvetica Neue"/>
              <a:sym typeface="Helvetica Neue"/>
            </a:endParaRPr>
          </a:p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Montserrat" pitchFamily="2" charset="77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1" name="Group 14"/>
          <p:cNvGrpSpPr/>
          <p:nvPr/>
        </p:nvGrpSpPr>
        <p:grpSpPr>
          <a:xfrm>
            <a:off x="2521573" y="2281976"/>
            <a:ext cx="677751" cy="677751"/>
            <a:chOff x="0" y="0"/>
            <a:chExt cx="812800" cy="812800"/>
          </a:xfrm>
        </p:grpSpPr>
        <p:sp>
          <p:nvSpPr>
            <p:cNvPr id="31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32" name="TextBox 16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33" name="TextBox 18"/>
          <p:cNvSpPr txBox="1"/>
          <p:nvPr/>
        </p:nvSpPr>
        <p:spPr>
          <a:xfrm>
            <a:off x="2612393" y="2457973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grpSp>
        <p:nvGrpSpPr>
          <p:cNvPr id="34" name="Group 14"/>
          <p:cNvGrpSpPr/>
          <p:nvPr/>
        </p:nvGrpSpPr>
        <p:grpSpPr>
          <a:xfrm>
            <a:off x="2523726" y="4729332"/>
            <a:ext cx="677751" cy="677751"/>
            <a:chOff x="0" y="0"/>
            <a:chExt cx="812800" cy="812800"/>
          </a:xfrm>
        </p:grpSpPr>
        <p:sp>
          <p:nvSpPr>
            <p:cNvPr id="3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36" name="TextBox 16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37" name="TextBox 18"/>
          <p:cNvSpPr txBox="1"/>
          <p:nvPr/>
        </p:nvSpPr>
        <p:spPr>
          <a:xfrm>
            <a:off x="2614546" y="4905329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</a:t>
            </a:r>
            <a:r>
              <a:rPr lang="en-US" altLang="zh-CN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  <a:endParaRPr lang="en-US" sz="1800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38" name="Group 14"/>
          <p:cNvGrpSpPr/>
          <p:nvPr/>
        </p:nvGrpSpPr>
        <p:grpSpPr>
          <a:xfrm>
            <a:off x="2522111" y="7169666"/>
            <a:ext cx="677751" cy="677751"/>
            <a:chOff x="0" y="0"/>
            <a:chExt cx="812800" cy="812800"/>
          </a:xfrm>
        </p:grpSpPr>
        <p:sp>
          <p:nvSpPr>
            <p:cNvPr id="39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40" name="TextBox 16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41" name="TextBox 18"/>
          <p:cNvSpPr txBox="1"/>
          <p:nvPr/>
        </p:nvSpPr>
        <p:spPr>
          <a:xfrm>
            <a:off x="2612931" y="7345663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</a:t>
            </a:r>
            <a:r>
              <a:rPr lang="en-US" altLang="zh-CN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  <a:endParaRPr lang="en-US" sz="1800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214C1F-F3C5-9234-C374-0F0A8A5E9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5962CA-6A93-78AD-D138-4FFCB3B7EE6D}"/>
              </a:ext>
            </a:extLst>
          </p:cNvPr>
          <p:cNvSpPr txBox="1"/>
          <p:nvPr/>
        </p:nvSpPr>
        <p:spPr>
          <a:xfrm>
            <a:off x="17373600" y="9639300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0C36A743-F48F-42A0-B807-931C6D6B8D9C}" type="slidenum">
              <a:rPr lang="en-ZA" smtClean="0"/>
              <a:t>4</a:t>
            </a:fld>
            <a:endParaRPr lang="en-Z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6"/>
          <p:cNvSpPr/>
          <p:nvPr/>
        </p:nvSpPr>
        <p:spPr>
          <a:xfrm>
            <a:off x="6732777" y="1650865"/>
            <a:ext cx="10612248" cy="7988412"/>
          </a:xfrm>
          <a:custGeom>
            <a:avLst/>
            <a:gdLst/>
            <a:ahLst/>
            <a:cxnLst/>
            <a:rect l="l" t="t" r="r" b="b"/>
            <a:pathLst>
              <a:path w="2221939" h="2149447">
                <a:moveTo>
                  <a:pt x="0" y="0"/>
                </a:moveTo>
                <a:lnTo>
                  <a:pt x="2221939" y="0"/>
                </a:lnTo>
                <a:lnTo>
                  <a:pt x="2221939" y="2149447"/>
                </a:lnTo>
                <a:lnTo>
                  <a:pt x="0" y="2149447"/>
                </a:lnTo>
                <a:close/>
              </a:path>
            </a:pathLst>
          </a:custGeom>
          <a:solidFill>
            <a:srgbClr val="1E4541">
              <a:alpha val="9578"/>
            </a:srgbClr>
          </a:solidFill>
        </p:spPr>
      </p:sp>
      <p:sp>
        <p:nvSpPr>
          <p:cNvPr id="18" name="圆角矩形" descr="{CG[1].image}"/>
          <p:cNvSpPr/>
          <p:nvPr/>
        </p:nvSpPr>
        <p:spPr>
          <a:xfrm>
            <a:off x="7475074" y="2078462"/>
            <a:ext cx="9328237" cy="7189066"/>
          </a:xfrm>
          <a:prstGeom prst="roundRect">
            <a:avLst>
              <a:gd name="adj" fmla="val 4444"/>
            </a:avLst>
          </a:prstGeom>
          <a:solidFill>
            <a:srgbClr val="EBEEE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grpSp>
        <p:nvGrpSpPr>
          <p:cNvPr id="22" name="Group 2"/>
          <p:cNvGrpSpPr/>
          <p:nvPr/>
        </p:nvGrpSpPr>
        <p:grpSpPr>
          <a:xfrm>
            <a:off x="17259300" y="0"/>
            <a:ext cx="1028700" cy="1028700"/>
            <a:chOff x="0" y="0"/>
            <a:chExt cx="812800" cy="812800"/>
          </a:xfrm>
        </p:grpSpPr>
        <p:sp>
          <p:nvSpPr>
            <p:cNvPr id="2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2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{Paragraph_title}"/>
          <p:cNvSpPr txBox="1"/>
          <p:nvPr/>
        </p:nvSpPr>
        <p:spPr>
          <a:xfrm>
            <a:off x="1020536" y="1081855"/>
            <a:ext cx="5227864" cy="630942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4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3600" kern="0" dirty="0">
                <a:solidFill>
                  <a:srgbClr val="1E4541"/>
                </a:solidFill>
                <a:latin typeface="Poppins" pitchFamily="2" charset="77"/>
                <a:ea typeface="Helvetica Neue"/>
                <a:cs typeface="Poppins" pitchFamily="2" charset="77"/>
              </a:rPr>
              <a:t>Extreme Price Sensitivity Analysis</a:t>
            </a:r>
            <a:endParaRPr sz="3600" kern="0" dirty="0">
              <a:solidFill>
                <a:srgbClr val="1E4541"/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15" name="{Paragraph_content}"/>
          <p:cNvSpPr txBox="1"/>
          <p:nvPr/>
        </p:nvSpPr>
        <p:spPr>
          <a:xfrm>
            <a:off x="999229" y="2904359"/>
            <a:ext cx="5191834" cy="4385816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/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0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Analysis reveals extreme price sensitivity with elasticity coefficients of -5.60 for non-promotional items and -9.16 for promotional items, significantly exceeding typical FMCG benchmarks of -0.3 to -1.8. Medium segment shows 5.07% quantity uplift with promotions, while high segment faces -136.45% profit margin impact despite 3.72% quantity uplift.</a:t>
            </a: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16" name="{Chart_title}"/>
          <p:cNvSpPr txBox="1"/>
          <p:nvPr/>
        </p:nvSpPr>
        <p:spPr>
          <a:xfrm>
            <a:off x="6732777" y="1056187"/>
            <a:ext cx="10433998" cy="400110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spAutoFit/>
          </a:bodyPr>
          <a:lstStyle>
            <a:lvl1pPr algn="l">
              <a:defRPr sz="28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2100" kern="0" dirty="0">
                <a:solidFill>
                  <a:srgbClr val="1E4541"/>
                </a:solidFill>
                <a:latin typeface="Poppins" pitchFamily="2" charset="77"/>
                <a:ea typeface="Helvetica Neue"/>
                <a:cs typeface="Poppins" pitchFamily="2" charset="77"/>
              </a:rPr>
              <a:t>Price-Demand Relationship by Promotional Status</a:t>
            </a:r>
            <a:endParaRPr sz="2100" kern="0" dirty="0">
              <a:solidFill>
                <a:srgbClr val="1E4541"/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17" name=" "/>
          <p:cNvSpPr txBox="1"/>
          <p:nvPr/>
        </p:nvSpPr>
        <p:spPr>
          <a:xfrm>
            <a:off x="11209452" y="4970488"/>
            <a:ext cx="1713611" cy="353943"/>
          </a:xfrm>
          <a:prstGeom prst="rect">
            <a:avLst/>
          </a:prstGeom>
          <a:ln w="12700">
            <a:miter lim="400000"/>
          </a:ln>
        </p:spPr>
        <p:txBody>
          <a:bodyPr wrap="none" lIns="38100" tIns="38100" rIns="38100" bIns="38100">
            <a:spAutoFit/>
          </a:bodyPr>
          <a:lstStyle>
            <a:lvl1pPr algn="l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kern="0" dirty="0">
                <a:solidFill>
                  <a:srgbClr val="1E4541"/>
                </a:solidFill>
                <a:latin typeface="Poppins" pitchFamily="2" charset="77"/>
                <a:ea typeface="Helvetica Neue"/>
                <a:cs typeface="Poppins" pitchFamily="2" charset="77"/>
              </a:rPr>
              <a:t> </a:t>
            </a:r>
            <a:endParaRPr kern="0" dirty="0">
              <a:solidFill>
                <a:srgbClr val="1E4541"/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pic>
        <p:nvPicPr>
          <p:cNvPr id="1003" name="Chart Image 4"/>
          <p:cNvPicPr/>
          <p:nvPr/>
        </p:nvPicPr>
        <p:blipFill>
          <a:blip r:embed="rId2"/>
          <a:stretch>
            <a:fillRect/>
          </a:stretch>
        </p:blipFill>
        <p:spPr>
          <a:xfrm>
            <a:off x="7800963" y="2078462"/>
            <a:ext cx="8676459" cy="718906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2BEB42-2A27-4D9B-E2B8-F2D1E3A2F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46ED95-F509-96D9-F42B-79FABCF0B1B7}"/>
              </a:ext>
            </a:extLst>
          </p:cNvPr>
          <p:cNvSpPr txBox="1"/>
          <p:nvPr/>
        </p:nvSpPr>
        <p:spPr>
          <a:xfrm>
            <a:off x="17373600" y="9639300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0C36A743-F48F-42A0-B807-931C6D6B8D9C}" type="slidenum">
              <a:rPr lang="en-ZA" smtClean="0"/>
              <a:t>5</a:t>
            </a:fld>
            <a:endParaRPr lang="en-ZA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6"/>
          <p:cNvSpPr/>
          <p:nvPr/>
        </p:nvSpPr>
        <p:spPr>
          <a:xfrm>
            <a:off x="6732777" y="1650865"/>
            <a:ext cx="10612248" cy="7988412"/>
          </a:xfrm>
          <a:custGeom>
            <a:avLst/>
            <a:gdLst/>
            <a:ahLst/>
            <a:cxnLst/>
            <a:rect l="l" t="t" r="r" b="b"/>
            <a:pathLst>
              <a:path w="2221939" h="2149447">
                <a:moveTo>
                  <a:pt x="0" y="0"/>
                </a:moveTo>
                <a:lnTo>
                  <a:pt x="2221939" y="0"/>
                </a:lnTo>
                <a:lnTo>
                  <a:pt x="2221939" y="2149447"/>
                </a:lnTo>
                <a:lnTo>
                  <a:pt x="0" y="2149447"/>
                </a:lnTo>
                <a:close/>
              </a:path>
            </a:pathLst>
          </a:custGeom>
          <a:solidFill>
            <a:srgbClr val="1E4541">
              <a:alpha val="9578"/>
            </a:srgbClr>
          </a:solidFill>
        </p:spPr>
      </p:sp>
      <p:sp>
        <p:nvSpPr>
          <p:cNvPr id="18" name="圆角矩形" descr="{CG[1].image}"/>
          <p:cNvSpPr/>
          <p:nvPr/>
        </p:nvSpPr>
        <p:spPr>
          <a:xfrm>
            <a:off x="7475074" y="2078462"/>
            <a:ext cx="9328237" cy="7189066"/>
          </a:xfrm>
          <a:prstGeom prst="roundRect">
            <a:avLst>
              <a:gd name="adj" fmla="val 4444"/>
            </a:avLst>
          </a:prstGeom>
          <a:solidFill>
            <a:srgbClr val="EBEEE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grpSp>
        <p:nvGrpSpPr>
          <p:cNvPr id="22" name="Group 2"/>
          <p:cNvGrpSpPr/>
          <p:nvPr/>
        </p:nvGrpSpPr>
        <p:grpSpPr>
          <a:xfrm>
            <a:off x="17259300" y="0"/>
            <a:ext cx="1028700" cy="1028700"/>
            <a:chOff x="0" y="0"/>
            <a:chExt cx="812800" cy="812800"/>
          </a:xfrm>
        </p:grpSpPr>
        <p:sp>
          <p:nvSpPr>
            <p:cNvPr id="2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2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{Paragraph_title}"/>
          <p:cNvSpPr txBox="1"/>
          <p:nvPr/>
        </p:nvSpPr>
        <p:spPr>
          <a:xfrm>
            <a:off x="1020536" y="1081855"/>
            <a:ext cx="5227864" cy="630942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4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3600" kern="0" dirty="0">
                <a:solidFill>
                  <a:srgbClr val="1E4541"/>
                </a:solidFill>
                <a:latin typeface="Poppins" pitchFamily="2" charset="77"/>
                <a:ea typeface="Helvetica Neue"/>
                <a:cs typeface="Poppins" pitchFamily="2" charset="77"/>
              </a:rPr>
              <a:t>Key Seasonal Insights</a:t>
            </a:r>
            <a:endParaRPr sz="3600" kern="0" dirty="0">
              <a:solidFill>
                <a:srgbClr val="1E4541"/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15" name="{Paragraph_content}"/>
          <p:cNvSpPr txBox="1"/>
          <p:nvPr/>
        </p:nvSpPr>
        <p:spPr>
          <a:xfrm>
            <a:off x="999229" y="2904359"/>
            <a:ext cx="5191834" cy="4385816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/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0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August 2014 delivered peak performance at $10.01M in sales and 310,572 units, aligning with back-to-school demand patterns. Holiday periods show 25% promotional penetration vs 4.17% regular periods, generating 29.54% sales lift. Business exhibits 31.02% coefficient of variation with price elasticity ranging from -0.33 to -1.00 across seasons. Holiday periods contribute 30.95% of annual sales despite limited timeframe, emphasizing critical seasonal planning importance.</a:t>
            </a: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16" name="{Chart_title}"/>
          <p:cNvSpPr txBox="1"/>
          <p:nvPr/>
        </p:nvSpPr>
        <p:spPr>
          <a:xfrm>
            <a:off x="6732777" y="1056187"/>
            <a:ext cx="10433998" cy="400110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spAutoFit/>
          </a:bodyPr>
          <a:lstStyle>
            <a:lvl1pPr algn="l">
              <a:defRPr sz="28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2100" kern="0" dirty="0">
                <a:solidFill>
                  <a:srgbClr val="1E4541"/>
                </a:solidFill>
                <a:latin typeface="Poppins" pitchFamily="2" charset="77"/>
                <a:ea typeface="Helvetica Neue"/>
                <a:cs typeface="Poppins" pitchFamily="2" charset="77"/>
              </a:rPr>
              <a:t>Monthly Sales Performance and Seasonal Trends (2013-2016)</a:t>
            </a:r>
            <a:endParaRPr sz="2100" kern="0" dirty="0">
              <a:solidFill>
                <a:srgbClr val="1E4541"/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17" name=" "/>
          <p:cNvSpPr txBox="1"/>
          <p:nvPr/>
        </p:nvSpPr>
        <p:spPr>
          <a:xfrm>
            <a:off x="11209452" y="4970488"/>
            <a:ext cx="1713611" cy="353943"/>
          </a:xfrm>
          <a:prstGeom prst="rect">
            <a:avLst/>
          </a:prstGeom>
          <a:ln w="12700">
            <a:miter lim="400000"/>
          </a:ln>
        </p:spPr>
        <p:txBody>
          <a:bodyPr wrap="none" lIns="38100" tIns="38100" rIns="38100" bIns="38100">
            <a:spAutoFit/>
          </a:bodyPr>
          <a:lstStyle>
            <a:lvl1pPr algn="l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kern="0" dirty="0">
                <a:solidFill>
                  <a:srgbClr val="1E4541"/>
                </a:solidFill>
                <a:latin typeface="Poppins" pitchFamily="2" charset="77"/>
                <a:ea typeface="Helvetica Neue"/>
                <a:cs typeface="Poppins" pitchFamily="2" charset="77"/>
              </a:rPr>
              <a:t> </a:t>
            </a:r>
            <a:endParaRPr kern="0" dirty="0">
              <a:solidFill>
                <a:srgbClr val="1E4541"/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pic>
        <p:nvPicPr>
          <p:cNvPr id="1004" name="Chart Image 5"/>
          <p:cNvPicPr/>
          <p:nvPr/>
        </p:nvPicPr>
        <p:blipFill>
          <a:blip r:embed="rId2"/>
          <a:stretch>
            <a:fillRect/>
          </a:stretch>
        </p:blipFill>
        <p:spPr>
          <a:xfrm>
            <a:off x="7800963" y="2078462"/>
            <a:ext cx="8676459" cy="718906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FFA9E7-5774-B759-595F-212B35204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44FA9F-592F-D41D-C679-259FB4292722}"/>
              </a:ext>
            </a:extLst>
          </p:cNvPr>
          <p:cNvSpPr txBox="1"/>
          <p:nvPr/>
        </p:nvSpPr>
        <p:spPr>
          <a:xfrm>
            <a:off x="17373600" y="9639300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0C36A743-F48F-42A0-B807-931C6D6B8D9C}" type="slidenum">
              <a:rPr lang="en-ZA" smtClean="0"/>
              <a:t>6</a:t>
            </a:fld>
            <a:endParaRPr lang="en-ZA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6"/>
          <p:cNvSpPr/>
          <p:nvPr/>
        </p:nvSpPr>
        <p:spPr>
          <a:xfrm>
            <a:off x="6732777" y="1650865"/>
            <a:ext cx="10612248" cy="7988412"/>
          </a:xfrm>
          <a:custGeom>
            <a:avLst/>
            <a:gdLst/>
            <a:ahLst/>
            <a:cxnLst/>
            <a:rect l="l" t="t" r="r" b="b"/>
            <a:pathLst>
              <a:path w="2221939" h="2149447">
                <a:moveTo>
                  <a:pt x="0" y="0"/>
                </a:moveTo>
                <a:lnTo>
                  <a:pt x="2221939" y="0"/>
                </a:lnTo>
                <a:lnTo>
                  <a:pt x="2221939" y="2149447"/>
                </a:lnTo>
                <a:lnTo>
                  <a:pt x="0" y="2149447"/>
                </a:lnTo>
                <a:close/>
              </a:path>
            </a:pathLst>
          </a:custGeom>
          <a:solidFill>
            <a:srgbClr val="1E4541">
              <a:alpha val="9578"/>
            </a:srgbClr>
          </a:solidFill>
        </p:spPr>
      </p:sp>
      <p:sp>
        <p:nvSpPr>
          <p:cNvPr id="18" name="圆角矩形" descr="{CG[1].image}"/>
          <p:cNvSpPr/>
          <p:nvPr/>
        </p:nvSpPr>
        <p:spPr>
          <a:xfrm>
            <a:off x="7475074" y="2078462"/>
            <a:ext cx="9328237" cy="7189066"/>
          </a:xfrm>
          <a:prstGeom prst="roundRect">
            <a:avLst>
              <a:gd name="adj" fmla="val 4444"/>
            </a:avLst>
          </a:prstGeom>
          <a:solidFill>
            <a:srgbClr val="EBEEE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grpSp>
        <p:nvGrpSpPr>
          <p:cNvPr id="22" name="Group 2"/>
          <p:cNvGrpSpPr/>
          <p:nvPr/>
        </p:nvGrpSpPr>
        <p:grpSpPr>
          <a:xfrm>
            <a:off x="17259300" y="0"/>
            <a:ext cx="1028700" cy="1028700"/>
            <a:chOff x="0" y="0"/>
            <a:chExt cx="812800" cy="812800"/>
          </a:xfrm>
        </p:grpSpPr>
        <p:sp>
          <p:nvSpPr>
            <p:cNvPr id="2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2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{Paragraph_title}"/>
          <p:cNvSpPr txBox="1"/>
          <p:nvPr/>
        </p:nvSpPr>
        <p:spPr>
          <a:xfrm>
            <a:off x="1020536" y="1081855"/>
            <a:ext cx="5227864" cy="630942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4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3600" kern="0" dirty="0">
                <a:solidFill>
                  <a:srgbClr val="1E4541"/>
                </a:solidFill>
                <a:latin typeface="Poppins" pitchFamily="2" charset="77"/>
                <a:ea typeface="Helvetica Neue"/>
                <a:cs typeface="Poppins" pitchFamily="2" charset="77"/>
              </a:rPr>
              <a:t>Segment-Specific Customer Behavior Analysis</a:t>
            </a:r>
            <a:endParaRPr sz="3600" kern="0" dirty="0">
              <a:solidFill>
                <a:srgbClr val="1E4541"/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15" name="{Paragraph_content}"/>
          <p:cNvSpPr txBox="1"/>
          <p:nvPr/>
        </p:nvSpPr>
        <p:spPr>
          <a:xfrm>
            <a:off x="999229" y="2904359"/>
            <a:ext cx="5191834" cy="4385816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/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0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Market analysis reveals 42.7% demand concentration in Low price tier ($29-$34) with highest price sensitivity (elasticity: -0.415). Promotion effectiveness varies dramatically: Low and Medium-Low segments show positive quantity response (+21.4% and +16.9%) but suffer profit cannibalization (-$13,665 and -$8,555 per transaction). Premium segments demonstrate negative promotion response, indicating ineffective promotional strategies for high-value customers.</a:t>
            </a: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16" name="{Chart_title}"/>
          <p:cNvSpPr txBox="1"/>
          <p:nvPr/>
        </p:nvSpPr>
        <p:spPr>
          <a:xfrm>
            <a:off x="6732777" y="1056187"/>
            <a:ext cx="10433998" cy="400110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spAutoFit/>
          </a:bodyPr>
          <a:lstStyle>
            <a:lvl1pPr algn="l">
              <a:defRPr sz="28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2100" kern="0" dirty="0">
                <a:solidFill>
                  <a:srgbClr val="1E4541"/>
                </a:solidFill>
                <a:latin typeface="Poppins" pitchFamily="2" charset="77"/>
                <a:ea typeface="Helvetica Neue"/>
                <a:cs typeface="Poppins" pitchFamily="2" charset="77"/>
              </a:rPr>
              <a:t>Market Segmentation by Price Tier and Promotion Status</a:t>
            </a:r>
            <a:endParaRPr sz="2100" kern="0" dirty="0">
              <a:solidFill>
                <a:srgbClr val="1E4541"/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17" name=" "/>
          <p:cNvSpPr txBox="1"/>
          <p:nvPr/>
        </p:nvSpPr>
        <p:spPr>
          <a:xfrm>
            <a:off x="11209452" y="4970488"/>
            <a:ext cx="1713611" cy="353943"/>
          </a:xfrm>
          <a:prstGeom prst="rect">
            <a:avLst/>
          </a:prstGeom>
          <a:ln w="12700">
            <a:miter lim="400000"/>
          </a:ln>
        </p:spPr>
        <p:txBody>
          <a:bodyPr wrap="none" lIns="38100" tIns="38100" rIns="38100" bIns="38100">
            <a:spAutoFit/>
          </a:bodyPr>
          <a:lstStyle>
            <a:lvl1pPr algn="l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kern="0" dirty="0">
                <a:solidFill>
                  <a:srgbClr val="1E4541"/>
                </a:solidFill>
                <a:latin typeface="Poppins" pitchFamily="2" charset="77"/>
                <a:ea typeface="Helvetica Neue"/>
                <a:cs typeface="Poppins" pitchFamily="2" charset="77"/>
              </a:rPr>
              <a:t> </a:t>
            </a:r>
            <a:endParaRPr kern="0" dirty="0">
              <a:solidFill>
                <a:srgbClr val="1E4541"/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pic>
        <p:nvPicPr>
          <p:cNvPr id="1005" name="Chart Image 6"/>
          <p:cNvPicPr/>
          <p:nvPr/>
        </p:nvPicPr>
        <p:blipFill>
          <a:blip r:embed="rId2"/>
          <a:stretch>
            <a:fillRect/>
          </a:stretch>
        </p:blipFill>
        <p:spPr>
          <a:xfrm>
            <a:off x="7475074" y="2291509"/>
            <a:ext cx="9328237" cy="676297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566FB8-A02F-FEBE-2B25-10879B166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B11582-7C90-AF21-E32B-3001469EB51D}"/>
              </a:ext>
            </a:extLst>
          </p:cNvPr>
          <p:cNvSpPr txBox="1"/>
          <p:nvPr/>
        </p:nvSpPr>
        <p:spPr>
          <a:xfrm>
            <a:off x="17373600" y="9639300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0C36A743-F48F-42A0-B807-931C6D6B8D9C}" type="slidenum">
              <a:rPr lang="en-ZA" smtClean="0"/>
              <a:t>7</a:t>
            </a:fld>
            <a:endParaRPr lang="en-Z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19"/>
          <p:cNvSpPr/>
          <p:nvPr/>
        </p:nvSpPr>
        <p:spPr>
          <a:xfrm>
            <a:off x="809298" y="3661756"/>
            <a:ext cx="10859041" cy="6053743"/>
          </a:xfrm>
          <a:custGeom>
            <a:avLst/>
            <a:gdLst/>
            <a:ahLst/>
            <a:cxnLst/>
            <a:rect l="l" t="t" r="r" b="b"/>
            <a:pathLst>
              <a:path w="812800" h="1240594">
                <a:moveTo>
                  <a:pt x="0" y="0"/>
                </a:moveTo>
                <a:lnTo>
                  <a:pt x="812800" y="0"/>
                </a:lnTo>
                <a:lnTo>
                  <a:pt x="812800" y="1240594"/>
                </a:lnTo>
                <a:lnTo>
                  <a:pt x="0" y="1240594"/>
                </a:lnTo>
                <a:close/>
              </a:path>
            </a:pathLst>
          </a:custGeom>
          <a:solidFill>
            <a:srgbClr val="1E4541">
              <a:alpha val="9252"/>
            </a:srgbClr>
          </a:solidFill>
        </p:spPr>
      </p:sp>
      <p:sp>
        <p:nvSpPr>
          <p:cNvPr id="38" name="圆角矩形" descr="{CG[1].image}"/>
          <p:cNvSpPr/>
          <p:nvPr/>
        </p:nvSpPr>
        <p:spPr>
          <a:xfrm>
            <a:off x="1231540" y="4573358"/>
            <a:ext cx="10014557" cy="4957558"/>
          </a:xfrm>
          <a:prstGeom prst="roundRect">
            <a:avLst>
              <a:gd name="adj" fmla="val 4444"/>
            </a:avLst>
          </a:prstGeom>
          <a:solidFill>
            <a:srgbClr val="EBEEE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2" name="{Paragraph_title}"/>
          <p:cNvSpPr txBox="1"/>
          <p:nvPr/>
        </p:nvSpPr>
        <p:spPr>
          <a:xfrm>
            <a:off x="1020536" y="876300"/>
            <a:ext cx="10647803" cy="569387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spAutoFit/>
          </a:bodyPr>
          <a:lstStyle>
            <a:lvl1pPr algn="l">
              <a:defRPr sz="28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Inter" pitchFamily="2" charset="0"/>
                <a:cs typeface="Poppins" pitchFamily="2" charset="77"/>
                <a:sym typeface="Helvetica Neue"/>
              </a:rPr>
              <a:t>Comprehensive Market Analysis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1E4541"/>
              </a:solidFill>
              <a:effectLst/>
              <a:uLnTx/>
              <a:uFillTx/>
              <a:latin typeface="Poppins" pitchFamily="2" charset="77"/>
              <a:ea typeface="Inter" pitchFamily="2" charset="0"/>
              <a:cs typeface="Poppins" pitchFamily="2" charset="77"/>
              <a:sym typeface="Helvetica Neue"/>
            </a:endParaRPr>
          </a:p>
        </p:txBody>
      </p:sp>
      <p:sp>
        <p:nvSpPr>
          <p:cNvPr id="43" name="{Paragraph_content}"/>
          <p:cNvSpPr txBox="1"/>
          <p:nvPr/>
        </p:nvSpPr>
        <p:spPr>
          <a:xfrm>
            <a:off x="999229" y="1606960"/>
            <a:ext cx="10647803" cy="692497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spAutoFit/>
          </a:bodyPr>
          <a:lstStyle/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oppins" pitchFamily="2" charset="77"/>
                <a:ea typeface="Inter" pitchFamily="2" charset="0"/>
                <a:cs typeface="Poppins" pitchFamily="2" charset="77"/>
                <a:sym typeface="Helvetica Neue"/>
              </a:rPr>
              <a:t>Based on comprehensive analysis of 1,053 transactions across 3+ years of sales data, revealing critical insights into market segmentation and promotion effectiveness. The overall business shows challenging profitability with $186.9 million in total revenue but $-7.1 million in gross profit, resulting in an overall -3.81% margin.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Poppins" pitchFamily="2" charset="77"/>
              <a:ea typeface="Inter" pitchFamily="2" charset="0"/>
              <a:cs typeface="Poppins" pitchFamily="2" charset="77"/>
              <a:sym typeface="Helvetica Neue"/>
            </a:endParaRPr>
          </a:p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Poppins" pitchFamily="2" charset="77"/>
              <a:ea typeface="Inter" pitchFamily="2" charset="0"/>
              <a:cs typeface="Poppins" pitchFamily="2" charset="77"/>
              <a:sym typeface="Helvetica Neue"/>
            </a:endParaRPr>
          </a:p>
        </p:txBody>
      </p:sp>
      <p:sp>
        <p:nvSpPr>
          <p:cNvPr id="46" name="{Chart_title}"/>
          <p:cNvSpPr txBox="1"/>
          <p:nvPr/>
        </p:nvSpPr>
        <p:spPr>
          <a:xfrm>
            <a:off x="1127439" y="3988666"/>
            <a:ext cx="10433997" cy="400110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spAutoFit/>
          </a:bodyPr>
          <a:lstStyle>
            <a:lvl1pPr algn="l">
              <a:defRPr sz="28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Transaction Distribution Across Price Tiers and Promotion Status</a:t>
            </a:r>
            <a:endParaRPr kumimoji="0" sz="2100" b="1" i="0" u="none" strike="noStrike" kern="0" cap="none" spc="0" normalizeH="0" baseline="0" noProof="0" dirty="0">
              <a:ln>
                <a:noFill/>
              </a:ln>
              <a:solidFill>
                <a:srgbClr val="1E4541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47" name=" "/>
          <p:cNvSpPr txBox="1"/>
          <p:nvPr/>
        </p:nvSpPr>
        <p:spPr>
          <a:xfrm>
            <a:off x="5575540" y="6772058"/>
            <a:ext cx="1713611" cy="353943"/>
          </a:xfrm>
          <a:prstGeom prst="rect">
            <a:avLst/>
          </a:prstGeom>
          <a:ln w="12700">
            <a:miter lim="400000"/>
          </a:ln>
        </p:spPr>
        <p:txBody>
          <a:bodyPr wrap="none" lIns="38100" tIns="38100" rIns="38100" bIns="38100">
            <a:spAutoFit/>
          </a:bodyPr>
          <a:lstStyle>
            <a:lvl1pPr algn="l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 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1E4541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49" name="{KPI_group_title}"/>
          <p:cNvSpPr txBox="1"/>
          <p:nvPr/>
        </p:nvSpPr>
        <p:spPr>
          <a:xfrm>
            <a:off x="12356038" y="1508276"/>
            <a:ext cx="5398561" cy="507831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28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Key Metrics</a:t>
            </a:r>
            <a:endParaRPr kumimoji="0" b="0" i="0" u="none" strike="noStrike" kern="0" cap="none" spc="0" normalizeH="0" baseline="0" noProof="0" dirty="0">
              <a:ln>
                <a:noFill/>
              </a:ln>
              <a:solidFill>
                <a:srgbClr val="1E4541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53" name="{Kpi_title}"/>
          <p:cNvSpPr txBox="1"/>
          <p:nvPr/>
        </p:nvSpPr>
        <p:spPr>
          <a:xfrm>
            <a:off x="13266010" y="2400300"/>
            <a:ext cx="4717190" cy="446276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Total Revenue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54" name="{Kpi_value}"/>
          <p:cNvSpPr txBox="1"/>
          <p:nvPr/>
        </p:nvSpPr>
        <p:spPr>
          <a:xfrm>
            <a:off x="13266010" y="3058638"/>
            <a:ext cx="4717190" cy="569387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>
            <a:spAutoFit/>
          </a:bodyPr>
          <a:lstStyle>
            <a:lvl1pPr algn="l">
              <a:defRPr sz="6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$186.9M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1E4541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55" name="{Kpi_summary}"/>
          <p:cNvSpPr txBox="1"/>
          <p:nvPr/>
        </p:nvSpPr>
        <p:spPr>
          <a:xfrm>
            <a:off x="13266010" y="3929104"/>
            <a:ext cx="4488590" cy="384721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18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Total revenue across all transactions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56" name="{Kpi_title}"/>
          <p:cNvSpPr txBox="1"/>
          <p:nvPr/>
        </p:nvSpPr>
        <p:spPr>
          <a:xfrm>
            <a:off x="13266010" y="4910640"/>
            <a:ext cx="4717190" cy="446276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Gross Profit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57" name="{Kpi_value}"/>
          <p:cNvSpPr txBox="1"/>
          <p:nvPr/>
        </p:nvSpPr>
        <p:spPr>
          <a:xfrm>
            <a:off x="13266009" y="5568976"/>
            <a:ext cx="4805859" cy="569387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>
            <a:spAutoFit/>
          </a:bodyPr>
          <a:lstStyle>
            <a:lvl1pPr algn="l">
              <a:defRPr sz="6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$-7.1M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1E4541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58" name="{Kpi_summary}"/>
          <p:cNvSpPr txBox="1"/>
          <p:nvPr/>
        </p:nvSpPr>
        <p:spPr>
          <a:xfrm>
            <a:off x="13266010" y="6439443"/>
            <a:ext cx="4488590" cy="384721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18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Overall negative profitability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59" name="{Kpi_title}"/>
          <p:cNvSpPr txBox="1"/>
          <p:nvPr/>
        </p:nvSpPr>
        <p:spPr>
          <a:xfrm>
            <a:off x="13266010" y="7420977"/>
            <a:ext cx="4717190" cy="446276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Profit Margin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60" name="{Kpi_value}"/>
          <p:cNvSpPr txBox="1"/>
          <p:nvPr/>
        </p:nvSpPr>
        <p:spPr>
          <a:xfrm>
            <a:off x="13266010" y="8079313"/>
            <a:ext cx="4821819" cy="569387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>
            <a:spAutoFit/>
          </a:bodyPr>
          <a:lstStyle>
            <a:lvl1pPr algn="l">
              <a:defRPr sz="6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-3.81%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1E4541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61" name="{Kpi_summary}"/>
          <p:cNvSpPr txBox="1"/>
          <p:nvPr/>
        </p:nvSpPr>
        <p:spPr>
          <a:xfrm>
            <a:off x="13266010" y="8949779"/>
            <a:ext cx="4488590" cy="384721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18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Overall margin performance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grpSp>
        <p:nvGrpSpPr>
          <p:cNvPr id="22" name="Group 2"/>
          <p:cNvGrpSpPr/>
          <p:nvPr/>
        </p:nvGrpSpPr>
        <p:grpSpPr>
          <a:xfrm>
            <a:off x="17259300" y="0"/>
            <a:ext cx="1028700" cy="1028700"/>
            <a:chOff x="0" y="0"/>
            <a:chExt cx="812800" cy="812800"/>
          </a:xfrm>
        </p:grpSpPr>
        <p:sp>
          <p:nvSpPr>
            <p:cNvPr id="2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2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14"/>
          <p:cNvGrpSpPr/>
          <p:nvPr/>
        </p:nvGrpSpPr>
        <p:grpSpPr>
          <a:xfrm>
            <a:off x="12117645" y="2623494"/>
            <a:ext cx="677751" cy="677751"/>
            <a:chOff x="0" y="0"/>
            <a:chExt cx="812800" cy="812800"/>
          </a:xfrm>
        </p:grpSpPr>
        <p:sp>
          <p:nvSpPr>
            <p:cNvPr id="26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27" name="TextBox 16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28" name="TextBox 18"/>
          <p:cNvSpPr txBox="1"/>
          <p:nvPr/>
        </p:nvSpPr>
        <p:spPr>
          <a:xfrm>
            <a:off x="12208465" y="2799491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grpSp>
        <p:nvGrpSpPr>
          <p:cNvPr id="29" name="Group 14"/>
          <p:cNvGrpSpPr/>
          <p:nvPr/>
        </p:nvGrpSpPr>
        <p:grpSpPr>
          <a:xfrm>
            <a:off x="12117645" y="5108462"/>
            <a:ext cx="677751" cy="677751"/>
            <a:chOff x="0" y="0"/>
            <a:chExt cx="812800" cy="812800"/>
          </a:xfrm>
        </p:grpSpPr>
        <p:sp>
          <p:nvSpPr>
            <p:cNvPr id="30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31" name="TextBox 16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32" name="TextBox 18"/>
          <p:cNvSpPr txBox="1"/>
          <p:nvPr/>
        </p:nvSpPr>
        <p:spPr>
          <a:xfrm>
            <a:off x="12208465" y="5284459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</a:t>
            </a:r>
            <a:r>
              <a:rPr lang="en-US" altLang="zh-CN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  <a:endParaRPr lang="en-US" sz="1800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33" name="Group 14"/>
          <p:cNvGrpSpPr/>
          <p:nvPr/>
        </p:nvGrpSpPr>
        <p:grpSpPr>
          <a:xfrm>
            <a:off x="12117645" y="7618799"/>
            <a:ext cx="677751" cy="677751"/>
            <a:chOff x="0" y="0"/>
            <a:chExt cx="812800" cy="812800"/>
          </a:xfrm>
        </p:grpSpPr>
        <p:sp>
          <p:nvSpPr>
            <p:cNvPr id="34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35" name="TextBox 16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36" name="TextBox 18"/>
          <p:cNvSpPr txBox="1"/>
          <p:nvPr/>
        </p:nvSpPr>
        <p:spPr>
          <a:xfrm>
            <a:off x="12208465" y="7794796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</a:t>
            </a:r>
            <a:r>
              <a:rPr lang="en-US" altLang="zh-CN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  <a:endParaRPr lang="en-US" sz="1800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pic>
        <p:nvPicPr>
          <p:cNvPr id="1006" name="Chart Image 7"/>
          <p:cNvPicPr/>
          <p:nvPr/>
        </p:nvPicPr>
        <p:blipFill>
          <a:blip r:embed="rId2"/>
          <a:stretch>
            <a:fillRect/>
          </a:stretch>
        </p:blipFill>
        <p:spPr>
          <a:xfrm>
            <a:off x="2150780" y="4573358"/>
            <a:ext cx="8176077" cy="495755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9C15A-A690-B529-F8EB-237DB7856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6E7837-50AC-274C-B2E4-2554D4C9EAFF}"/>
              </a:ext>
            </a:extLst>
          </p:cNvPr>
          <p:cNvSpPr txBox="1"/>
          <p:nvPr/>
        </p:nvSpPr>
        <p:spPr>
          <a:xfrm>
            <a:off x="17373600" y="9639300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0C36A743-F48F-42A0-B807-931C6D6B8D9C}" type="slidenum">
              <a:rPr lang="en-ZA" smtClean="0"/>
              <a:t>8</a:t>
            </a:fld>
            <a:endParaRPr lang="en-Z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Freeform 19"/>
          <p:cNvSpPr/>
          <p:nvPr/>
        </p:nvSpPr>
        <p:spPr>
          <a:xfrm>
            <a:off x="809298" y="3661756"/>
            <a:ext cx="10859041" cy="6053743"/>
          </a:xfrm>
          <a:custGeom>
            <a:avLst/>
            <a:gdLst/>
            <a:ahLst/>
            <a:cxnLst/>
            <a:rect l="l" t="t" r="r" b="b"/>
            <a:pathLst>
              <a:path w="812800" h="1240594">
                <a:moveTo>
                  <a:pt x="0" y="0"/>
                </a:moveTo>
                <a:lnTo>
                  <a:pt x="812800" y="0"/>
                </a:lnTo>
                <a:lnTo>
                  <a:pt x="812800" y="1240594"/>
                </a:lnTo>
                <a:lnTo>
                  <a:pt x="0" y="1240594"/>
                </a:lnTo>
                <a:close/>
              </a:path>
            </a:pathLst>
          </a:custGeom>
          <a:solidFill>
            <a:srgbClr val="1E4541">
              <a:alpha val="9252"/>
            </a:srgbClr>
          </a:solidFill>
        </p:spPr>
      </p:sp>
      <p:sp>
        <p:nvSpPr>
          <p:cNvPr id="25" name="圆角矩形" descr="{CG[1].image}"/>
          <p:cNvSpPr/>
          <p:nvPr/>
        </p:nvSpPr>
        <p:spPr>
          <a:xfrm>
            <a:off x="1231540" y="4573358"/>
            <a:ext cx="10014557" cy="4957558"/>
          </a:xfrm>
          <a:prstGeom prst="roundRect">
            <a:avLst>
              <a:gd name="adj" fmla="val 4444"/>
            </a:avLst>
          </a:prstGeom>
          <a:solidFill>
            <a:srgbClr val="EBEEE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grpSp>
        <p:nvGrpSpPr>
          <p:cNvPr id="22" name="Group 2"/>
          <p:cNvGrpSpPr/>
          <p:nvPr/>
        </p:nvGrpSpPr>
        <p:grpSpPr>
          <a:xfrm>
            <a:off x="17259300" y="0"/>
            <a:ext cx="1028700" cy="1028700"/>
            <a:chOff x="0" y="0"/>
            <a:chExt cx="812800" cy="812800"/>
          </a:xfrm>
        </p:grpSpPr>
        <p:sp>
          <p:nvSpPr>
            <p:cNvPr id="2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2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{Paragraph_title}"/>
          <p:cNvSpPr txBox="1"/>
          <p:nvPr/>
        </p:nvSpPr>
        <p:spPr>
          <a:xfrm>
            <a:off x="1020536" y="876300"/>
            <a:ext cx="10647803" cy="569387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spAutoFit/>
          </a:bodyPr>
          <a:lstStyle>
            <a:lvl1pPr algn="l">
              <a:defRPr sz="28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Inter" pitchFamily="2" charset="0"/>
                <a:cs typeface="Poppins" pitchFamily="2" charset="77"/>
                <a:sym typeface="Helvetica Neue"/>
              </a:rPr>
              <a:t>Segment Elasticity Patterns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1E4541"/>
              </a:solidFill>
              <a:effectLst/>
              <a:uLnTx/>
              <a:uFillTx/>
              <a:latin typeface="Poppins" pitchFamily="2" charset="77"/>
              <a:ea typeface="Inter" pitchFamily="2" charset="0"/>
              <a:cs typeface="Poppins" pitchFamily="2" charset="77"/>
              <a:sym typeface="Helvetica Neue"/>
            </a:endParaRPr>
          </a:p>
        </p:txBody>
      </p:sp>
      <p:sp>
        <p:nvSpPr>
          <p:cNvPr id="38" name="{Paragraph_content}"/>
          <p:cNvSpPr txBox="1"/>
          <p:nvPr/>
        </p:nvSpPr>
        <p:spPr>
          <a:xfrm>
            <a:off x="999229" y="1606960"/>
            <a:ext cx="10647803" cy="692497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spAutoFit/>
          </a:bodyPr>
          <a:lstStyle/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oppins" pitchFamily="2" charset="77"/>
                <a:ea typeface="Inter" pitchFamily="2" charset="0"/>
                <a:cs typeface="Poppins" pitchFamily="2" charset="77"/>
                <a:sym typeface="Helvetica Neue"/>
              </a:rPr>
              <a:t>Price elasticity analysis demonstrates critical segment variations: High price segments exhibit lower elasticity (-0.226) indicating less price-sensitive customers, while Low segments show higher elasticity (-0.472). Notably, Medium-High with promotions shows positive elasticity (0.225), suggesting potential premium positioning opportunities.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Poppins" pitchFamily="2" charset="77"/>
              <a:ea typeface="Inter" pitchFamily="2" charset="0"/>
              <a:cs typeface="Poppins" pitchFamily="2" charset="77"/>
              <a:sym typeface="Helvetica Neue"/>
            </a:endParaRPr>
          </a:p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Poppins" pitchFamily="2" charset="77"/>
              <a:ea typeface="Inter" pitchFamily="2" charset="0"/>
              <a:cs typeface="Poppins" pitchFamily="2" charset="77"/>
              <a:sym typeface="Helvetica Neue"/>
            </a:endParaRPr>
          </a:p>
        </p:txBody>
      </p:sp>
      <p:sp>
        <p:nvSpPr>
          <p:cNvPr id="39" name="{Chart_title}"/>
          <p:cNvSpPr txBox="1"/>
          <p:nvPr/>
        </p:nvSpPr>
        <p:spPr>
          <a:xfrm>
            <a:off x="1127439" y="3988666"/>
            <a:ext cx="10433997" cy="400110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spAutoFit/>
          </a:bodyPr>
          <a:lstStyle>
            <a:lvl1pPr algn="l">
              <a:defRPr sz="28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Price Elasticity vs Average Sale Value by Price Segments</a:t>
            </a:r>
            <a:endParaRPr kumimoji="0" sz="2100" b="1" i="0" u="none" strike="noStrike" kern="0" cap="none" spc="0" normalizeH="0" baseline="0" noProof="0" dirty="0">
              <a:ln>
                <a:noFill/>
              </a:ln>
              <a:solidFill>
                <a:srgbClr val="1E4541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40" name=" "/>
          <p:cNvSpPr txBox="1"/>
          <p:nvPr/>
        </p:nvSpPr>
        <p:spPr>
          <a:xfrm>
            <a:off x="5575540" y="6772058"/>
            <a:ext cx="1713611" cy="353943"/>
          </a:xfrm>
          <a:prstGeom prst="rect">
            <a:avLst/>
          </a:prstGeom>
          <a:ln w="12700">
            <a:miter lim="400000"/>
          </a:ln>
        </p:spPr>
        <p:txBody>
          <a:bodyPr wrap="none" lIns="38100" tIns="38100" rIns="38100" bIns="38100">
            <a:spAutoFit/>
          </a:bodyPr>
          <a:lstStyle>
            <a:lvl1pPr algn="l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 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1E4541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41" name="{KPI_group_title}"/>
          <p:cNvSpPr txBox="1"/>
          <p:nvPr/>
        </p:nvSpPr>
        <p:spPr>
          <a:xfrm>
            <a:off x="12279838" y="2150358"/>
            <a:ext cx="5398561" cy="507831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28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Elasticity Metrics</a:t>
            </a:r>
            <a:endParaRPr kumimoji="0" b="0" i="0" u="none" strike="noStrike" kern="0" cap="none" spc="0" normalizeH="0" baseline="0" noProof="0" dirty="0">
              <a:ln>
                <a:noFill/>
              </a:ln>
              <a:solidFill>
                <a:srgbClr val="1E4541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44" name="{Kpi_title}"/>
          <p:cNvSpPr txBox="1"/>
          <p:nvPr/>
        </p:nvSpPr>
        <p:spPr>
          <a:xfrm>
            <a:off x="13189810" y="3695700"/>
            <a:ext cx="4869590" cy="446276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High Tier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45" name="{Kpi_value}"/>
          <p:cNvSpPr txBox="1"/>
          <p:nvPr/>
        </p:nvSpPr>
        <p:spPr>
          <a:xfrm>
            <a:off x="13189810" y="4381500"/>
            <a:ext cx="4869590" cy="569387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>
            <a:spAutoFit/>
          </a:bodyPr>
          <a:lstStyle>
            <a:lvl1pPr algn="l">
              <a:defRPr sz="6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-0.226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1E4541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48" name="{Kpi_summary}"/>
          <p:cNvSpPr txBox="1"/>
          <p:nvPr/>
        </p:nvSpPr>
        <p:spPr>
          <a:xfrm>
            <a:off x="13189810" y="5296440"/>
            <a:ext cx="4717190" cy="384721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18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Lower price sensitivity in premium segment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50" name="{Kpi_title}"/>
          <p:cNvSpPr txBox="1"/>
          <p:nvPr/>
        </p:nvSpPr>
        <p:spPr>
          <a:xfrm>
            <a:off x="13189810" y="6206040"/>
            <a:ext cx="4869590" cy="446276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Low Tier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51" name="{Kpi_value}"/>
          <p:cNvSpPr txBox="1"/>
          <p:nvPr/>
        </p:nvSpPr>
        <p:spPr>
          <a:xfrm>
            <a:off x="13189809" y="6891838"/>
            <a:ext cx="4961123" cy="569387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>
            <a:spAutoFit/>
          </a:bodyPr>
          <a:lstStyle>
            <a:lvl1pPr algn="l">
              <a:defRPr sz="6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-0.472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1E4541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52" name="{Kpi_summary}"/>
          <p:cNvSpPr txBox="1"/>
          <p:nvPr/>
        </p:nvSpPr>
        <p:spPr>
          <a:xfrm>
            <a:off x="13189810" y="7806779"/>
            <a:ext cx="4717190" cy="384721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18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Higher price sensitivity in budget segment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grpSp>
        <p:nvGrpSpPr>
          <p:cNvPr id="62" name="Group 14"/>
          <p:cNvGrpSpPr/>
          <p:nvPr/>
        </p:nvGrpSpPr>
        <p:grpSpPr>
          <a:xfrm>
            <a:off x="12192000" y="3924300"/>
            <a:ext cx="677751" cy="677751"/>
            <a:chOff x="0" y="0"/>
            <a:chExt cx="812800" cy="812800"/>
          </a:xfrm>
        </p:grpSpPr>
        <p:sp>
          <p:nvSpPr>
            <p:cNvPr id="63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64" name="TextBox 16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65" name="TextBox 18"/>
          <p:cNvSpPr txBox="1"/>
          <p:nvPr/>
        </p:nvSpPr>
        <p:spPr>
          <a:xfrm>
            <a:off x="12282820" y="4100297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grpSp>
        <p:nvGrpSpPr>
          <p:cNvPr id="66" name="Group 14"/>
          <p:cNvGrpSpPr/>
          <p:nvPr/>
        </p:nvGrpSpPr>
        <p:grpSpPr>
          <a:xfrm>
            <a:off x="12192000" y="6434640"/>
            <a:ext cx="677751" cy="677751"/>
            <a:chOff x="0" y="0"/>
            <a:chExt cx="812800" cy="812800"/>
          </a:xfrm>
        </p:grpSpPr>
        <p:sp>
          <p:nvSpPr>
            <p:cNvPr id="67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68" name="TextBox 16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69" name="TextBox 18"/>
          <p:cNvSpPr txBox="1"/>
          <p:nvPr/>
        </p:nvSpPr>
        <p:spPr>
          <a:xfrm>
            <a:off x="12282820" y="6610637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</a:t>
            </a:r>
            <a:r>
              <a:rPr lang="en-US" altLang="zh-CN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  <a:endParaRPr lang="en-US" sz="1800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pic>
        <p:nvPicPr>
          <p:cNvPr id="1007" name="Chart Image 8"/>
          <p:cNvPicPr/>
          <p:nvPr/>
        </p:nvPicPr>
        <p:blipFill>
          <a:blip r:embed="rId2"/>
          <a:stretch>
            <a:fillRect/>
          </a:stretch>
        </p:blipFill>
        <p:spPr>
          <a:xfrm>
            <a:off x="1713664" y="4573358"/>
            <a:ext cx="9050309" cy="495755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C9CE43-E33B-5A6F-7724-9B1746A45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B104EF-2436-1CDE-8650-B50C948E1AFE}"/>
              </a:ext>
            </a:extLst>
          </p:cNvPr>
          <p:cNvSpPr txBox="1"/>
          <p:nvPr/>
        </p:nvSpPr>
        <p:spPr>
          <a:xfrm>
            <a:off x="17373600" y="9639300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0C36A743-F48F-42A0-B807-931C6D6B8D9C}" type="slidenum">
              <a:rPr lang="en-ZA" smtClean="0"/>
              <a:t>9</a:t>
            </a:fld>
            <a:endParaRPr lang="en-ZA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19"/>
          <p:cNvSpPr/>
          <p:nvPr/>
        </p:nvSpPr>
        <p:spPr>
          <a:xfrm>
            <a:off x="809298" y="3661756"/>
            <a:ext cx="10859041" cy="6053743"/>
          </a:xfrm>
          <a:custGeom>
            <a:avLst/>
            <a:gdLst/>
            <a:ahLst/>
            <a:cxnLst/>
            <a:rect l="l" t="t" r="r" b="b"/>
            <a:pathLst>
              <a:path w="812800" h="1240594">
                <a:moveTo>
                  <a:pt x="0" y="0"/>
                </a:moveTo>
                <a:lnTo>
                  <a:pt x="812800" y="0"/>
                </a:lnTo>
                <a:lnTo>
                  <a:pt x="812800" y="1240594"/>
                </a:lnTo>
                <a:lnTo>
                  <a:pt x="0" y="1240594"/>
                </a:lnTo>
                <a:close/>
              </a:path>
            </a:pathLst>
          </a:custGeom>
          <a:solidFill>
            <a:srgbClr val="1E4541">
              <a:alpha val="9252"/>
            </a:srgbClr>
          </a:solidFill>
        </p:spPr>
      </p:sp>
      <p:sp>
        <p:nvSpPr>
          <p:cNvPr id="14" name="圆角矩形" descr="{CG[1].image}"/>
          <p:cNvSpPr/>
          <p:nvPr/>
        </p:nvSpPr>
        <p:spPr>
          <a:xfrm>
            <a:off x="1231540" y="4573358"/>
            <a:ext cx="10014557" cy="4957558"/>
          </a:xfrm>
          <a:prstGeom prst="roundRect">
            <a:avLst>
              <a:gd name="adj" fmla="val 4444"/>
            </a:avLst>
          </a:prstGeom>
          <a:solidFill>
            <a:srgbClr val="EBEEE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3" name="Freeform 14"/>
          <p:cNvSpPr/>
          <p:nvPr/>
        </p:nvSpPr>
        <p:spPr>
          <a:xfrm>
            <a:off x="11668339" y="3661756"/>
            <a:ext cx="6238661" cy="6053742"/>
          </a:xfrm>
          <a:custGeom>
            <a:avLst/>
            <a:gdLst/>
            <a:ahLst/>
            <a:cxnLst/>
            <a:rect l="l" t="t" r="r" b="b"/>
            <a:pathLst>
              <a:path w="1330362" h="812800">
                <a:moveTo>
                  <a:pt x="0" y="0"/>
                </a:moveTo>
                <a:lnTo>
                  <a:pt x="1330362" y="0"/>
                </a:lnTo>
                <a:lnTo>
                  <a:pt x="1330362" y="812800"/>
                </a:lnTo>
                <a:lnTo>
                  <a:pt x="0" y="812800"/>
                </a:lnTo>
                <a:close/>
              </a:path>
            </a:pathLst>
          </a:custGeom>
          <a:solidFill>
            <a:srgbClr val="1E4541"/>
          </a:solidFill>
        </p:spPr>
        <p:txBody>
          <a:bodyPr/>
          <a:lstStyle/>
          <a:p>
            <a:endParaRPr lang="en-US" dirty="0"/>
          </a:p>
        </p:txBody>
      </p:sp>
      <p:grpSp>
        <p:nvGrpSpPr>
          <p:cNvPr id="22" name="Group 2"/>
          <p:cNvGrpSpPr/>
          <p:nvPr/>
        </p:nvGrpSpPr>
        <p:grpSpPr>
          <a:xfrm>
            <a:off x="17259300" y="0"/>
            <a:ext cx="1028700" cy="1028700"/>
            <a:chOff x="0" y="0"/>
            <a:chExt cx="812800" cy="812800"/>
          </a:xfrm>
        </p:grpSpPr>
        <p:sp>
          <p:nvSpPr>
            <p:cNvPr id="2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2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{Paragraph_title}"/>
          <p:cNvSpPr txBox="1"/>
          <p:nvPr/>
        </p:nvSpPr>
        <p:spPr>
          <a:xfrm>
            <a:off x="1020536" y="1081855"/>
            <a:ext cx="16289543" cy="630942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spAutoFit/>
          </a:bodyPr>
          <a:lstStyle>
            <a:lvl1pPr algn="l">
              <a:defRPr sz="3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kern="0" dirty="0">
                <a:solidFill>
                  <a:srgbClr val="1E4541"/>
                </a:solidFill>
                <a:latin typeface="Poppins" pitchFamily="2" charset="77"/>
                <a:ea typeface="Helvetica Neue"/>
                <a:cs typeface="Poppins" pitchFamily="2" charset="77"/>
              </a:rPr>
              <a:t>Profit Distribution Insights</a:t>
            </a:r>
            <a:endParaRPr kern="0" dirty="0">
              <a:solidFill>
                <a:srgbClr val="1E4541"/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26" name="{Paragraph_content}"/>
          <p:cNvSpPr txBox="1"/>
          <p:nvPr/>
        </p:nvSpPr>
        <p:spPr>
          <a:xfrm>
            <a:off x="999229" y="1766914"/>
            <a:ext cx="16289543" cy="1000274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spAutoFit/>
          </a:bodyPr>
          <a:lstStyle/>
          <a:p>
            <a:pPr defTabSz="1828800" hangingPunct="0">
              <a:defRPr sz="2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0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Profitability analysis showcases stark segment performance differences: Only High price tiers achieve positive gross profits ($4,745-$5,336 per transaction), while all lower segments face significant losses. Medium-High with promotions represents the only promotional success case with $2,569 positive profit per transaction.</a:t>
            </a: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2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2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27" name="{Chart_title}"/>
          <p:cNvSpPr txBox="1"/>
          <p:nvPr/>
        </p:nvSpPr>
        <p:spPr>
          <a:xfrm>
            <a:off x="1127439" y="3988666"/>
            <a:ext cx="10433997" cy="400110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spAutoFit/>
          </a:bodyPr>
          <a:lstStyle>
            <a:lvl1pPr algn="l">
              <a:defRPr sz="28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2100" b="0" kern="0" dirty="0">
                <a:solidFill>
                  <a:srgbClr val="1E4541"/>
                </a:solidFill>
                <a:latin typeface="Poppins" pitchFamily="2" charset="77"/>
                <a:ea typeface="Helvetica Neue"/>
                <a:cs typeface="Poppins" pitchFamily="2" charset="77"/>
              </a:rPr>
              <a:t>Average Gross Profit Performance by Price Tier and Promotion</a:t>
            </a:r>
            <a:endParaRPr sz="2100" b="0" kern="0" dirty="0">
              <a:solidFill>
                <a:srgbClr val="1E4541"/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28" name=" "/>
          <p:cNvSpPr txBox="1"/>
          <p:nvPr/>
        </p:nvSpPr>
        <p:spPr>
          <a:xfrm>
            <a:off x="5575540" y="6772058"/>
            <a:ext cx="1713611" cy="353943"/>
          </a:xfrm>
          <a:prstGeom prst="rect">
            <a:avLst/>
          </a:prstGeom>
          <a:ln w="12700">
            <a:miter lim="400000"/>
          </a:ln>
        </p:spPr>
        <p:txBody>
          <a:bodyPr wrap="none" lIns="38100" tIns="38100" rIns="38100" bIns="38100">
            <a:spAutoFit/>
          </a:bodyPr>
          <a:lstStyle>
            <a:lvl1pPr algn="l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kern="0" dirty="0">
                <a:solidFill>
                  <a:srgbClr val="1E4541"/>
                </a:solidFill>
                <a:latin typeface="Poppins" pitchFamily="2" charset="77"/>
                <a:ea typeface="Helvetica Neue"/>
                <a:cs typeface="Poppins" pitchFamily="2" charset="77"/>
              </a:rPr>
              <a:t> </a:t>
            </a:r>
            <a:endParaRPr kern="0" dirty="0">
              <a:solidFill>
                <a:srgbClr val="1E4541"/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29" name="{Kpi_value}"/>
          <p:cNvSpPr txBox="1"/>
          <p:nvPr/>
        </p:nvSpPr>
        <p:spPr>
          <a:xfrm>
            <a:off x="11775242" y="6356003"/>
            <a:ext cx="5979358" cy="692497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>
            <a:spAutoFit/>
          </a:bodyPr>
          <a:lstStyle>
            <a:lvl1pPr>
              <a:defRPr sz="8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4000" kern="0" dirty="0">
                <a:solidFill>
                  <a:schemeClr val="bg1"/>
                </a:solidFill>
                <a:latin typeface="Poppins" pitchFamily="2" charset="77"/>
                <a:ea typeface="Helvetica Neue"/>
                <a:cs typeface="Poppins" pitchFamily="2" charset="77"/>
              </a:rPr>
              <a:t>$5,336</a:t>
            </a:r>
            <a:endParaRPr sz="4000" kern="0" dirty="0">
              <a:solidFill>
                <a:schemeClr val="bg1"/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30" name="{Kpi_summary}"/>
          <p:cNvSpPr txBox="1"/>
          <p:nvPr/>
        </p:nvSpPr>
        <p:spPr>
          <a:xfrm>
            <a:off x="11775242" y="7644733"/>
            <a:ext cx="5979357" cy="384721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>
              <a:defRPr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2000" kern="0" dirty="0">
                <a:solidFill>
                  <a:schemeClr val="bg1"/>
                </a:solidFill>
                <a:latin typeface="Poppins" pitchFamily="2" charset="77"/>
                <a:ea typeface="Helvetica Neue"/>
                <a:cs typeface="Poppins" pitchFamily="2" charset="77"/>
              </a:rPr>
              <a:t>Average profit per high-tier transaction</a:t>
            </a:r>
            <a:endParaRPr sz="2000" kern="0" dirty="0">
              <a:solidFill>
                <a:schemeClr val="bg1"/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31" name="{Kpi_title}"/>
          <p:cNvSpPr txBox="1"/>
          <p:nvPr/>
        </p:nvSpPr>
        <p:spPr>
          <a:xfrm>
            <a:off x="11887200" y="5362128"/>
            <a:ext cx="5867400" cy="492443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>
              <a:defRPr sz="3600" b="1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2700" kern="0" dirty="0">
                <a:solidFill>
                  <a:schemeClr val="bg1"/>
                </a:solidFill>
                <a:latin typeface="Poppins" pitchFamily="2" charset="77"/>
                <a:ea typeface="Helvetica Neue"/>
                <a:cs typeface="Poppins" pitchFamily="2" charset="77"/>
              </a:rPr>
              <a:t>High Tier Profit</a:t>
            </a:r>
            <a:endParaRPr sz="2700" kern="0" dirty="0">
              <a:solidFill>
                <a:schemeClr val="bg1"/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pic>
        <p:nvPicPr>
          <p:cNvPr id="1008" name="Chart Image 9"/>
          <p:cNvPicPr/>
          <p:nvPr/>
        </p:nvPicPr>
        <p:blipFill>
          <a:blip r:embed="rId2"/>
          <a:stretch>
            <a:fillRect/>
          </a:stretch>
        </p:blipFill>
        <p:spPr>
          <a:xfrm>
            <a:off x="2382940" y="4573358"/>
            <a:ext cx="7711757" cy="495755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936B97-CC05-E9F3-9421-7461F75B7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9B861A-A30E-C00B-3A5C-E9F396FA56A7}"/>
              </a:ext>
            </a:extLst>
          </p:cNvPr>
          <p:cNvSpPr txBox="1"/>
          <p:nvPr/>
        </p:nvSpPr>
        <p:spPr>
          <a:xfrm>
            <a:off x="17373600" y="9639300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0C36A743-F48F-42A0-B807-931C6D6B8D9C}" type="slidenum">
              <a:rPr lang="en-ZA" smtClean="0"/>
              <a:t>10</a:t>
            </a:fld>
            <a:endParaRPr lang="en-ZA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6"/>
          <p:cNvSpPr/>
          <p:nvPr/>
        </p:nvSpPr>
        <p:spPr>
          <a:xfrm>
            <a:off x="6732777" y="1650865"/>
            <a:ext cx="10612248" cy="7988412"/>
          </a:xfrm>
          <a:custGeom>
            <a:avLst/>
            <a:gdLst/>
            <a:ahLst/>
            <a:cxnLst/>
            <a:rect l="l" t="t" r="r" b="b"/>
            <a:pathLst>
              <a:path w="2221939" h="2149447">
                <a:moveTo>
                  <a:pt x="0" y="0"/>
                </a:moveTo>
                <a:lnTo>
                  <a:pt x="2221939" y="0"/>
                </a:lnTo>
                <a:lnTo>
                  <a:pt x="2221939" y="2149447"/>
                </a:lnTo>
                <a:lnTo>
                  <a:pt x="0" y="2149447"/>
                </a:lnTo>
                <a:close/>
              </a:path>
            </a:pathLst>
          </a:custGeom>
          <a:solidFill>
            <a:srgbClr val="1E4541">
              <a:alpha val="9578"/>
            </a:srgbClr>
          </a:solidFill>
        </p:spPr>
      </p:sp>
      <p:sp>
        <p:nvSpPr>
          <p:cNvPr id="18" name="圆角矩形" descr="{CG[1].image}"/>
          <p:cNvSpPr/>
          <p:nvPr/>
        </p:nvSpPr>
        <p:spPr>
          <a:xfrm>
            <a:off x="7475074" y="2078462"/>
            <a:ext cx="9328237" cy="7189066"/>
          </a:xfrm>
          <a:prstGeom prst="roundRect">
            <a:avLst>
              <a:gd name="adj" fmla="val 4444"/>
            </a:avLst>
          </a:prstGeom>
          <a:solidFill>
            <a:srgbClr val="EBEEE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grpSp>
        <p:nvGrpSpPr>
          <p:cNvPr id="22" name="Group 2"/>
          <p:cNvGrpSpPr/>
          <p:nvPr/>
        </p:nvGrpSpPr>
        <p:grpSpPr>
          <a:xfrm>
            <a:off x="17259300" y="0"/>
            <a:ext cx="1028700" cy="1028700"/>
            <a:chOff x="0" y="0"/>
            <a:chExt cx="812800" cy="812800"/>
          </a:xfrm>
        </p:grpSpPr>
        <p:sp>
          <p:nvSpPr>
            <p:cNvPr id="2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2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{Paragraph_title}"/>
          <p:cNvSpPr txBox="1"/>
          <p:nvPr/>
        </p:nvSpPr>
        <p:spPr>
          <a:xfrm>
            <a:off x="1020536" y="1081855"/>
            <a:ext cx="5227864" cy="630942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4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3600" kern="0" dirty="0">
                <a:solidFill>
                  <a:srgbClr val="1E4541"/>
                </a:solidFill>
                <a:latin typeface="Poppins" pitchFamily="2" charset="77"/>
                <a:ea typeface="Helvetica Neue"/>
                <a:cs typeface="Poppins" pitchFamily="2" charset="77"/>
              </a:rPr>
              <a:t>Multi-Year Trend Analysis</a:t>
            </a:r>
            <a:endParaRPr sz="3600" kern="0" dirty="0">
              <a:solidFill>
                <a:srgbClr val="1E4541"/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15" name="{Paragraph_content}"/>
          <p:cNvSpPr txBox="1"/>
          <p:nvPr/>
        </p:nvSpPr>
        <p:spPr>
          <a:xfrm>
            <a:off x="999229" y="2904359"/>
            <a:ext cx="5191834" cy="4385816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/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0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Temporal trends reveal declining sales momentum from peak performance in March 2014 ($8.3 million) through significant deterioration by late 2016. The pattern shows seasonal volatility with promotion-driven spikes, particularly visible in August 2014 ($10 million) corresponding to high promotional activity.</a:t>
            </a: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16" name="{Chart_title}"/>
          <p:cNvSpPr txBox="1"/>
          <p:nvPr/>
        </p:nvSpPr>
        <p:spPr>
          <a:xfrm>
            <a:off x="6732777" y="1056187"/>
            <a:ext cx="10433998" cy="400110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spAutoFit/>
          </a:bodyPr>
          <a:lstStyle>
            <a:lvl1pPr algn="l">
              <a:defRPr sz="28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2100" kern="0" dirty="0">
                <a:solidFill>
                  <a:srgbClr val="1E4541"/>
                </a:solidFill>
                <a:latin typeface="Poppins" pitchFamily="2" charset="77"/>
                <a:ea typeface="Helvetica Neue"/>
                <a:cs typeface="Poppins" pitchFamily="2" charset="77"/>
              </a:rPr>
              <a:t>Monthly Sales Value Trends (2013-2016)</a:t>
            </a:r>
            <a:endParaRPr sz="2100" kern="0" dirty="0">
              <a:solidFill>
                <a:srgbClr val="1E4541"/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17" name=" "/>
          <p:cNvSpPr txBox="1"/>
          <p:nvPr/>
        </p:nvSpPr>
        <p:spPr>
          <a:xfrm>
            <a:off x="11209452" y="4970488"/>
            <a:ext cx="1713611" cy="353943"/>
          </a:xfrm>
          <a:prstGeom prst="rect">
            <a:avLst/>
          </a:prstGeom>
          <a:ln w="12700">
            <a:miter lim="400000"/>
          </a:ln>
        </p:spPr>
        <p:txBody>
          <a:bodyPr wrap="none" lIns="38100" tIns="38100" rIns="38100" bIns="38100">
            <a:spAutoFit/>
          </a:bodyPr>
          <a:lstStyle>
            <a:lvl1pPr algn="l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kern="0" dirty="0">
                <a:solidFill>
                  <a:srgbClr val="1E4541"/>
                </a:solidFill>
                <a:latin typeface="Poppins" pitchFamily="2" charset="77"/>
                <a:ea typeface="Helvetica Neue"/>
                <a:cs typeface="Poppins" pitchFamily="2" charset="77"/>
              </a:rPr>
              <a:t> </a:t>
            </a:r>
            <a:endParaRPr kern="0" dirty="0">
              <a:solidFill>
                <a:srgbClr val="1E4541"/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pic>
        <p:nvPicPr>
          <p:cNvPr id="1009" name="Chart Imag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7475074" y="2291509"/>
            <a:ext cx="9328237" cy="676297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E3035E-1946-2660-4CD0-6C4A2820C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1DE8C2-1C95-787D-FC2C-7EEC67212ABC}"/>
              </a:ext>
            </a:extLst>
          </p:cNvPr>
          <p:cNvSpPr txBox="1"/>
          <p:nvPr/>
        </p:nvSpPr>
        <p:spPr>
          <a:xfrm>
            <a:off x="17373600" y="9639300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0C36A743-F48F-42A0-B807-931C6D6B8D9C}" type="slidenum">
              <a:rPr lang="en-ZA" smtClean="0"/>
              <a:t>11</a:t>
            </a:fld>
            <a:endParaRPr lang="en-ZA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6"/>
          <p:cNvSpPr/>
          <p:nvPr/>
        </p:nvSpPr>
        <p:spPr>
          <a:xfrm>
            <a:off x="6732777" y="1650865"/>
            <a:ext cx="10612248" cy="7988412"/>
          </a:xfrm>
          <a:custGeom>
            <a:avLst/>
            <a:gdLst/>
            <a:ahLst/>
            <a:cxnLst/>
            <a:rect l="l" t="t" r="r" b="b"/>
            <a:pathLst>
              <a:path w="2221939" h="2149447">
                <a:moveTo>
                  <a:pt x="0" y="0"/>
                </a:moveTo>
                <a:lnTo>
                  <a:pt x="2221939" y="0"/>
                </a:lnTo>
                <a:lnTo>
                  <a:pt x="2221939" y="2149447"/>
                </a:lnTo>
                <a:lnTo>
                  <a:pt x="0" y="2149447"/>
                </a:lnTo>
                <a:close/>
              </a:path>
            </a:pathLst>
          </a:custGeom>
          <a:solidFill>
            <a:srgbClr val="1E4541">
              <a:alpha val="9578"/>
            </a:srgbClr>
          </a:solidFill>
        </p:spPr>
      </p:sp>
      <p:sp>
        <p:nvSpPr>
          <p:cNvPr id="18" name="圆角矩形" descr="{CG[1].image}"/>
          <p:cNvSpPr/>
          <p:nvPr/>
        </p:nvSpPr>
        <p:spPr>
          <a:xfrm>
            <a:off x="7475074" y="2078462"/>
            <a:ext cx="9328237" cy="7189066"/>
          </a:xfrm>
          <a:prstGeom prst="roundRect">
            <a:avLst>
              <a:gd name="adj" fmla="val 4444"/>
            </a:avLst>
          </a:prstGeom>
          <a:solidFill>
            <a:srgbClr val="EBEEE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grpSp>
        <p:nvGrpSpPr>
          <p:cNvPr id="22" name="Group 2"/>
          <p:cNvGrpSpPr/>
          <p:nvPr/>
        </p:nvGrpSpPr>
        <p:grpSpPr>
          <a:xfrm>
            <a:off x="17259300" y="0"/>
            <a:ext cx="1028700" cy="1028700"/>
            <a:chOff x="0" y="0"/>
            <a:chExt cx="812800" cy="812800"/>
          </a:xfrm>
        </p:grpSpPr>
        <p:sp>
          <p:nvSpPr>
            <p:cNvPr id="2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2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{Paragraph_title}"/>
          <p:cNvSpPr txBox="1"/>
          <p:nvPr/>
        </p:nvSpPr>
        <p:spPr>
          <a:xfrm>
            <a:off x="1020536" y="1081855"/>
            <a:ext cx="5227864" cy="630942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4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3600" kern="0" dirty="0">
                <a:solidFill>
                  <a:srgbClr val="1E4541"/>
                </a:solidFill>
                <a:latin typeface="Poppins" pitchFamily="2" charset="77"/>
                <a:ea typeface="Helvetica Neue"/>
                <a:cs typeface="Poppins" pitchFamily="2" charset="77"/>
              </a:rPr>
              <a:t>Balanced Market Coverage</a:t>
            </a:r>
            <a:endParaRPr sz="3600" kern="0" dirty="0">
              <a:solidFill>
                <a:srgbClr val="1E4541"/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15" name="{Paragraph_content}"/>
          <p:cNvSpPr txBox="1"/>
          <p:nvPr/>
        </p:nvSpPr>
        <p:spPr>
          <a:xfrm>
            <a:off x="999229" y="2904359"/>
            <a:ext cx="5191834" cy="4385816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/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0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Market share distribution demonstrates balanced competitive landscape with each price tier capturing approximately 25% market share. This equilibrium suggests successful market coverage but highlights the critical need to improve profitability in lower-tier segments that represent 50.04% of total transactions.</a:t>
            </a: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16" name="{Chart_title}"/>
          <p:cNvSpPr txBox="1"/>
          <p:nvPr/>
        </p:nvSpPr>
        <p:spPr>
          <a:xfrm>
            <a:off x="6732777" y="1056187"/>
            <a:ext cx="10433998" cy="400110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spAutoFit/>
          </a:bodyPr>
          <a:lstStyle>
            <a:lvl1pPr algn="l">
              <a:defRPr sz="28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2100" kern="0" dirty="0">
                <a:solidFill>
                  <a:srgbClr val="1E4541"/>
                </a:solidFill>
                <a:latin typeface="Poppins" pitchFamily="2" charset="77"/>
                <a:ea typeface="Helvetica Neue"/>
                <a:cs typeface="Poppins" pitchFamily="2" charset="77"/>
              </a:rPr>
              <a:t>Market Share Distribution by Price Tiers</a:t>
            </a:r>
            <a:endParaRPr sz="2100" kern="0" dirty="0">
              <a:solidFill>
                <a:srgbClr val="1E4541"/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17" name=" "/>
          <p:cNvSpPr txBox="1"/>
          <p:nvPr/>
        </p:nvSpPr>
        <p:spPr>
          <a:xfrm>
            <a:off x="11209452" y="4970488"/>
            <a:ext cx="1713611" cy="353943"/>
          </a:xfrm>
          <a:prstGeom prst="rect">
            <a:avLst/>
          </a:prstGeom>
          <a:ln w="12700">
            <a:miter lim="400000"/>
          </a:ln>
        </p:spPr>
        <p:txBody>
          <a:bodyPr wrap="none" lIns="38100" tIns="38100" rIns="38100" bIns="38100">
            <a:spAutoFit/>
          </a:bodyPr>
          <a:lstStyle>
            <a:lvl1pPr algn="l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kern="0" dirty="0">
                <a:solidFill>
                  <a:srgbClr val="1E4541"/>
                </a:solidFill>
                <a:latin typeface="Poppins" pitchFamily="2" charset="77"/>
                <a:ea typeface="Helvetica Neue"/>
                <a:cs typeface="Poppins" pitchFamily="2" charset="77"/>
              </a:rPr>
              <a:t> </a:t>
            </a:r>
            <a:endParaRPr kern="0" dirty="0">
              <a:solidFill>
                <a:srgbClr val="1E4541"/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pic>
        <p:nvPicPr>
          <p:cNvPr id="1010" name="Chart Image 11"/>
          <p:cNvPicPr/>
          <p:nvPr/>
        </p:nvPicPr>
        <p:blipFill>
          <a:blip r:embed="rId2"/>
          <a:stretch>
            <a:fillRect/>
          </a:stretch>
        </p:blipFill>
        <p:spPr>
          <a:xfrm>
            <a:off x="7800963" y="2078462"/>
            <a:ext cx="8676459" cy="718906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081874-2A8B-FC72-B50F-72409E374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E7CC2F-1982-3A6F-A766-093D250F12CC}"/>
              </a:ext>
            </a:extLst>
          </p:cNvPr>
          <p:cNvSpPr txBox="1"/>
          <p:nvPr/>
        </p:nvSpPr>
        <p:spPr>
          <a:xfrm>
            <a:off x="17373600" y="9639300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0C36A743-F48F-42A0-B807-931C6D6B8D9C}" type="slidenum">
              <a:rPr lang="en-ZA" smtClean="0"/>
              <a:t>12</a:t>
            </a:fld>
            <a:endParaRPr lang="en-ZA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"/>
          <p:cNvGrpSpPr/>
          <p:nvPr/>
        </p:nvGrpSpPr>
        <p:grpSpPr>
          <a:xfrm>
            <a:off x="17259300" y="0"/>
            <a:ext cx="1028700" cy="1028700"/>
            <a:chOff x="0" y="0"/>
            <a:chExt cx="812800" cy="812800"/>
          </a:xfrm>
        </p:grpSpPr>
        <p:sp>
          <p:nvSpPr>
            <p:cNvPr id="2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2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{Kpi_value}"/>
          <p:cNvSpPr txBox="1"/>
          <p:nvPr/>
        </p:nvSpPr>
        <p:spPr>
          <a:xfrm>
            <a:off x="6590194" y="7469713"/>
            <a:ext cx="5046101" cy="569387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>
            <a:spAutoFit/>
          </a:bodyPr>
          <a:lstStyle>
            <a:lvl1pPr>
              <a:defRPr sz="6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3200" kern="0" dirty="0">
                <a:solidFill>
                  <a:srgbClr val="1E4541"/>
                </a:solidFill>
                <a:latin typeface="Poppins" pitchFamily="2" charset="77"/>
                <a:ea typeface="Helvetica Neue"/>
                <a:cs typeface="Poppins" pitchFamily="2" charset="77"/>
              </a:rPr>
              <a:t>21.91%</a:t>
            </a:r>
            <a:endParaRPr sz="3200" kern="0" dirty="0">
              <a:solidFill>
                <a:srgbClr val="1E4541"/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11" name="{Kpi_summary}"/>
          <p:cNvSpPr txBox="1"/>
          <p:nvPr/>
        </p:nvSpPr>
        <p:spPr>
          <a:xfrm>
            <a:off x="7164736" y="8282853"/>
            <a:ext cx="3958529" cy="384721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spAutoFit/>
          </a:bodyPr>
          <a:lstStyle>
            <a:lvl1pPr>
              <a:defRPr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20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itchFamily="2" charset="77"/>
                <a:ea typeface="Helvetica Neue"/>
                <a:cs typeface="Poppins" pitchFamily="2" charset="77"/>
              </a:rPr>
              <a:t>Average sales value increase from promotions</a:t>
            </a: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12" name="{Kpi_title}"/>
          <p:cNvSpPr txBox="1"/>
          <p:nvPr/>
        </p:nvSpPr>
        <p:spPr>
          <a:xfrm>
            <a:off x="6663418" y="6822688"/>
            <a:ext cx="4953000" cy="446276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>
              <a:defRPr b="1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24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itchFamily="2" charset="77"/>
                <a:ea typeface="Helvetica Neue"/>
                <a:cs typeface="Poppins" pitchFamily="2" charset="77"/>
              </a:rPr>
              <a:t>Sales Increase</a:t>
            </a:r>
            <a:endParaRPr sz="24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18" name="{Kpi_value}"/>
          <p:cNvSpPr txBox="1"/>
          <p:nvPr/>
        </p:nvSpPr>
        <p:spPr>
          <a:xfrm>
            <a:off x="11701141" y="7454561"/>
            <a:ext cx="5062859" cy="569387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>
            <a:spAutoFit/>
          </a:bodyPr>
          <a:lstStyle>
            <a:lvl1pPr>
              <a:defRPr sz="6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3200" kern="0" dirty="0">
                <a:solidFill>
                  <a:srgbClr val="1E4541"/>
                </a:solidFill>
                <a:latin typeface="Poppins" pitchFamily="2" charset="77"/>
                <a:ea typeface="Helvetica Neue"/>
                <a:cs typeface="Poppins" pitchFamily="2" charset="77"/>
              </a:rPr>
              <a:t>-2.70%</a:t>
            </a:r>
            <a:endParaRPr sz="3200" kern="0" dirty="0">
              <a:solidFill>
                <a:srgbClr val="1E4541"/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19" name="{Kpi_summary}"/>
          <p:cNvSpPr txBox="1"/>
          <p:nvPr/>
        </p:nvSpPr>
        <p:spPr>
          <a:xfrm>
            <a:off x="12015129" y="8282853"/>
            <a:ext cx="4320646" cy="384721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spAutoFit/>
          </a:bodyPr>
          <a:lstStyle>
            <a:lvl1pPr>
              <a:defRPr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20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itchFamily="2" charset="77"/>
                <a:ea typeface="Helvetica Neue"/>
                <a:cs typeface="Poppins" pitchFamily="2" charset="77"/>
              </a:rPr>
              <a:t>Negative impact on profit margins</a:t>
            </a: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20" name="{Kpi_title}"/>
          <p:cNvSpPr txBox="1"/>
          <p:nvPr/>
        </p:nvSpPr>
        <p:spPr>
          <a:xfrm>
            <a:off x="11724204" y="6819900"/>
            <a:ext cx="4953000" cy="446276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>
              <a:defRPr b="1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24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itchFamily="2" charset="77"/>
                <a:ea typeface="Helvetica Neue"/>
                <a:cs typeface="Poppins" pitchFamily="2" charset="77"/>
              </a:rPr>
              <a:t>Margin Impact</a:t>
            </a:r>
            <a:endParaRPr sz="24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21" name="{Paragraph_title}"/>
          <p:cNvSpPr txBox="1"/>
          <p:nvPr/>
        </p:nvSpPr>
        <p:spPr>
          <a:xfrm>
            <a:off x="1020536" y="1658104"/>
            <a:ext cx="16238764" cy="723275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5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4200" kern="0" dirty="0">
                <a:solidFill>
                  <a:srgbClr val="1E4541"/>
                </a:solidFill>
                <a:latin typeface="Poppins" pitchFamily="2" charset="77"/>
                <a:ea typeface="Helvetica Neue"/>
                <a:cs typeface="Poppins" pitchFamily="2" charset="77"/>
              </a:rPr>
              <a:t>Promotion Optimization Insights</a:t>
            </a:r>
            <a:endParaRPr sz="4200" kern="0" dirty="0">
              <a:solidFill>
                <a:srgbClr val="1E4541"/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25" name="{Paragraph_content}"/>
          <p:cNvSpPr txBox="1"/>
          <p:nvPr/>
        </p:nvSpPr>
        <p:spPr>
          <a:xfrm>
            <a:off x="999229" y="3124192"/>
            <a:ext cx="16289543" cy="1000274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spAutoFit/>
          </a:bodyPr>
          <a:lstStyle/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0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Promotion timing analysis reveals concentrated promotional activity in Q3 periods with peak penetration reaching 66.3% in 2015Q4. However, 2016 shows zero promotion activity, corresponding with improved Q4 margins (8.29%), suggesting potential over-promotion issues in previous periods.</a:t>
            </a: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26" name="{Kpi_value}"/>
          <p:cNvSpPr txBox="1"/>
          <p:nvPr/>
        </p:nvSpPr>
        <p:spPr>
          <a:xfrm>
            <a:off x="1441680" y="7454561"/>
            <a:ext cx="4953000" cy="569387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>
            <a:spAutoFit/>
          </a:bodyPr>
          <a:lstStyle>
            <a:lvl1pPr>
              <a:defRPr sz="6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3200" kern="0" dirty="0">
                <a:solidFill>
                  <a:srgbClr val="1E4541"/>
                </a:solidFill>
                <a:latin typeface="Poppins" pitchFamily="2" charset="77"/>
                <a:ea typeface="Helvetica Neue"/>
                <a:cs typeface="Poppins" pitchFamily="2" charset="77"/>
              </a:rPr>
              <a:t>11.59%</a:t>
            </a:r>
            <a:endParaRPr sz="3200" kern="0" dirty="0">
              <a:solidFill>
                <a:srgbClr val="1E4541"/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27" name="{Kpi_summary}"/>
          <p:cNvSpPr txBox="1"/>
          <p:nvPr/>
        </p:nvSpPr>
        <p:spPr>
          <a:xfrm>
            <a:off x="2183130" y="8267700"/>
            <a:ext cx="3518657" cy="384721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spAutoFit/>
          </a:bodyPr>
          <a:lstStyle>
            <a:lvl1pPr>
              <a:defRPr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20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itchFamily="2" charset="77"/>
                <a:ea typeface="Helvetica Neue"/>
                <a:cs typeface="Poppins" pitchFamily="2" charset="77"/>
              </a:rPr>
              <a:t>Overall promotion penetration across periods</a:t>
            </a:r>
            <a:endParaRPr sz="20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sp>
        <p:nvSpPr>
          <p:cNvPr id="28" name="{Kpi_title}"/>
          <p:cNvSpPr txBox="1"/>
          <p:nvPr/>
        </p:nvSpPr>
        <p:spPr>
          <a:xfrm>
            <a:off x="1519975" y="6820097"/>
            <a:ext cx="4953000" cy="446276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>
              <a:defRPr b="1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24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itchFamily="2" charset="77"/>
                <a:ea typeface="Helvetica Neue"/>
                <a:cs typeface="Poppins" pitchFamily="2" charset="77"/>
              </a:rPr>
              <a:t>Penetration Rate</a:t>
            </a:r>
            <a:endParaRPr sz="2400" kern="0" dirty="0">
              <a:solidFill>
                <a:schemeClr val="tx1">
                  <a:lumMod val="95000"/>
                  <a:lumOff val="5000"/>
                </a:schemeClr>
              </a:solidFill>
              <a:latin typeface="Poppins" pitchFamily="2" charset="77"/>
              <a:ea typeface="Helvetica Neue"/>
              <a:cs typeface="Poppins" pitchFamily="2" charset="77"/>
            </a:endParaRPr>
          </a:p>
        </p:txBody>
      </p:sp>
      <p:grpSp>
        <p:nvGrpSpPr>
          <p:cNvPr id="29" name="Group 14"/>
          <p:cNvGrpSpPr/>
          <p:nvPr/>
        </p:nvGrpSpPr>
        <p:grpSpPr>
          <a:xfrm>
            <a:off x="3657600" y="6010964"/>
            <a:ext cx="677751" cy="677751"/>
            <a:chOff x="0" y="0"/>
            <a:chExt cx="812800" cy="812800"/>
          </a:xfrm>
        </p:grpSpPr>
        <p:sp>
          <p:nvSpPr>
            <p:cNvPr id="30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31" name="TextBox 16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32" name="TextBox 18"/>
          <p:cNvSpPr txBox="1"/>
          <p:nvPr/>
        </p:nvSpPr>
        <p:spPr>
          <a:xfrm>
            <a:off x="3748420" y="6186961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grpSp>
        <p:nvGrpSpPr>
          <p:cNvPr id="33" name="Group 14"/>
          <p:cNvGrpSpPr/>
          <p:nvPr/>
        </p:nvGrpSpPr>
        <p:grpSpPr>
          <a:xfrm>
            <a:off x="8805124" y="6010964"/>
            <a:ext cx="677751" cy="677751"/>
            <a:chOff x="0" y="0"/>
            <a:chExt cx="812800" cy="812800"/>
          </a:xfrm>
        </p:grpSpPr>
        <p:sp>
          <p:nvSpPr>
            <p:cNvPr id="34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35" name="TextBox 16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36" name="TextBox 18"/>
          <p:cNvSpPr txBox="1"/>
          <p:nvPr/>
        </p:nvSpPr>
        <p:spPr>
          <a:xfrm>
            <a:off x="8895944" y="6186961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</a:t>
            </a:r>
            <a:r>
              <a:rPr lang="en-US" altLang="zh-CN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  <a:endParaRPr lang="en-US" sz="1800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37" name="Group 14"/>
          <p:cNvGrpSpPr/>
          <p:nvPr/>
        </p:nvGrpSpPr>
        <p:grpSpPr>
          <a:xfrm>
            <a:off x="13861829" y="6008451"/>
            <a:ext cx="677751" cy="677751"/>
            <a:chOff x="0" y="0"/>
            <a:chExt cx="812800" cy="812800"/>
          </a:xfrm>
        </p:grpSpPr>
        <p:sp>
          <p:nvSpPr>
            <p:cNvPr id="38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39" name="TextBox 16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40" name="TextBox 18"/>
          <p:cNvSpPr txBox="1"/>
          <p:nvPr/>
        </p:nvSpPr>
        <p:spPr>
          <a:xfrm>
            <a:off x="13952649" y="6184448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</a:t>
            </a:r>
            <a:r>
              <a:rPr lang="en-US" altLang="zh-CN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  <a:endParaRPr lang="en-US" sz="1800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5C60A1-B99F-B4D6-D7B4-7CE2BFFB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648A8D-3672-D478-16D8-289D2FDC3415}"/>
              </a:ext>
            </a:extLst>
          </p:cNvPr>
          <p:cNvSpPr txBox="1"/>
          <p:nvPr/>
        </p:nvSpPr>
        <p:spPr>
          <a:xfrm>
            <a:off x="17373600" y="9639300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0C36A743-F48F-42A0-B807-931C6D6B8D9C}" type="slidenum">
              <a:rPr lang="en-ZA" smtClean="0"/>
              <a:t>13</a:t>
            </a:fld>
            <a:endParaRPr lang="en-ZA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19"/>
          <p:cNvSpPr/>
          <p:nvPr/>
        </p:nvSpPr>
        <p:spPr>
          <a:xfrm>
            <a:off x="809298" y="3661756"/>
            <a:ext cx="10859041" cy="6053743"/>
          </a:xfrm>
          <a:custGeom>
            <a:avLst/>
            <a:gdLst/>
            <a:ahLst/>
            <a:cxnLst/>
            <a:rect l="l" t="t" r="r" b="b"/>
            <a:pathLst>
              <a:path w="812800" h="1240594">
                <a:moveTo>
                  <a:pt x="0" y="0"/>
                </a:moveTo>
                <a:lnTo>
                  <a:pt x="812800" y="0"/>
                </a:lnTo>
                <a:lnTo>
                  <a:pt x="812800" y="1240594"/>
                </a:lnTo>
                <a:lnTo>
                  <a:pt x="0" y="1240594"/>
                </a:lnTo>
                <a:close/>
              </a:path>
            </a:pathLst>
          </a:custGeom>
          <a:solidFill>
            <a:srgbClr val="1E4541">
              <a:alpha val="9252"/>
            </a:srgbClr>
          </a:solidFill>
        </p:spPr>
      </p:sp>
      <p:sp>
        <p:nvSpPr>
          <p:cNvPr id="38" name="圆角矩形" descr="{CG[1].image}"/>
          <p:cNvSpPr/>
          <p:nvPr/>
        </p:nvSpPr>
        <p:spPr>
          <a:xfrm>
            <a:off x="1231540" y="4573358"/>
            <a:ext cx="10014557" cy="4957558"/>
          </a:xfrm>
          <a:prstGeom prst="roundRect">
            <a:avLst>
              <a:gd name="adj" fmla="val 4444"/>
            </a:avLst>
          </a:prstGeom>
          <a:solidFill>
            <a:srgbClr val="EBEEE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2" name="{Paragraph_title}"/>
          <p:cNvSpPr txBox="1"/>
          <p:nvPr/>
        </p:nvSpPr>
        <p:spPr>
          <a:xfrm>
            <a:off x="1020536" y="876300"/>
            <a:ext cx="10647803" cy="569387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spAutoFit/>
          </a:bodyPr>
          <a:lstStyle>
            <a:lvl1pPr algn="l">
              <a:defRPr sz="28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Inter" pitchFamily="2" charset="0"/>
                <a:cs typeface="Poppins" pitchFamily="2" charset="77"/>
                <a:sym typeface="Helvetica Neue"/>
              </a:rPr>
              <a:t>Market Segment Performance Overview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1E4541"/>
              </a:solidFill>
              <a:effectLst/>
              <a:uLnTx/>
              <a:uFillTx/>
              <a:latin typeface="Poppins" pitchFamily="2" charset="77"/>
              <a:ea typeface="Inter" pitchFamily="2" charset="0"/>
              <a:cs typeface="Poppins" pitchFamily="2" charset="77"/>
              <a:sym typeface="Helvetica Neue"/>
            </a:endParaRPr>
          </a:p>
        </p:txBody>
      </p:sp>
      <p:sp>
        <p:nvSpPr>
          <p:cNvPr id="43" name="{Paragraph_content}"/>
          <p:cNvSpPr txBox="1"/>
          <p:nvPr/>
        </p:nvSpPr>
        <p:spPr>
          <a:xfrm>
            <a:off x="999229" y="1606960"/>
            <a:ext cx="10647803" cy="692497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spAutoFit/>
          </a:bodyPr>
          <a:lstStyle/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oppins" pitchFamily="2" charset="77"/>
                <a:ea typeface="Inter" pitchFamily="2" charset="0"/>
                <a:cs typeface="Poppins" pitchFamily="2" charset="77"/>
                <a:sym typeface="Helvetica Neue"/>
              </a:rPr>
              <a:t>Analysis reveals critical profitability issues across 87.5% of market segments, with promotions hurting lower-tier profitability while creating opportunities in Medium-High segments. The Low price tier represents 25.5% of total transaction volume while generating average losses of -4.21% without promotions and catastrophic -8.26% with promotions.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Poppins" pitchFamily="2" charset="77"/>
              <a:ea typeface="Inter" pitchFamily="2" charset="0"/>
              <a:cs typeface="Poppins" pitchFamily="2" charset="77"/>
              <a:sym typeface="Helvetica Neue"/>
            </a:endParaRPr>
          </a:p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Poppins" pitchFamily="2" charset="77"/>
              <a:ea typeface="Inter" pitchFamily="2" charset="0"/>
              <a:cs typeface="Poppins" pitchFamily="2" charset="77"/>
              <a:sym typeface="Helvetica Neue"/>
            </a:endParaRPr>
          </a:p>
        </p:txBody>
      </p:sp>
      <p:sp>
        <p:nvSpPr>
          <p:cNvPr id="46" name="{Chart_title}"/>
          <p:cNvSpPr txBox="1"/>
          <p:nvPr/>
        </p:nvSpPr>
        <p:spPr>
          <a:xfrm>
            <a:off x="1127439" y="3988666"/>
            <a:ext cx="10433997" cy="400110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spAutoFit/>
          </a:bodyPr>
          <a:lstStyle>
            <a:lvl1pPr algn="l">
              <a:defRPr sz="28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Gross Profit Percentage by Price Tier and Promotion Status</a:t>
            </a:r>
            <a:endParaRPr kumimoji="0" sz="2100" b="1" i="0" u="none" strike="noStrike" kern="0" cap="none" spc="0" normalizeH="0" baseline="0" noProof="0" dirty="0">
              <a:ln>
                <a:noFill/>
              </a:ln>
              <a:solidFill>
                <a:srgbClr val="1E4541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47" name=" "/>
          <p:cNvSpPr txBox="1"/>
          <p:nvPr/>
        </p:nvSpPr>
        <p:spPr>
          <a:xfrm>
            <a:off x="5575540" y="6772058"/>
            <a:ext cx="1713611" cy="353943"/>
          </a:xfrm>
          <a:prstGeom prst="rect">
            <a:avLst/>
          </a:prstGeom>
          <a:ln w="12700">
            <a:miter lim="400000"/>
          </a:ln>
        </p:spPr>
        <p:txBody>
          <a:bodyPr wrap="none" lIns="38100" tIns="38100" rIns="38100" bIns="38100">
            <a:spAutoFit/>
          </a:bodyPr>
          <a:lstStyle>
            <a:lvl1pPr algn="l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 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1E4541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49" name="{KPI_group_title}"/>
          <p:cNvSpPr txBox="1"/>
          <p:nvPr/>
        </p:nvSpPr>
        <p:spPr>
          <a:xfrm>
            <a:off x="12356038" y="1508276"/>
            <a:ext cx="5398561" cy="507831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28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Key Metrics</a:t>
            </a:r>
            <a:endParaRPr kumimoji="0" b="0" i="0" u="none" strike="noStrike" kern="0" cap="none" spc="0" normalizeH="0" baseline="0" noProof="0" dirty="0">
              <a:ln>
                <a:noFill/>
              </a:ln>
              <a:solidFill>
                <a:srgbClr val="1E4541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53" name="{Kpi_title}"/>
          <p:cNvSpPr txBox="1"/>
          <p:nvPr/>
        </p:nvSpPr>
        <p:spPr>
          <a:xfrm>
            <a:off x="13266010" y="2400300"/>
            <a:ext cx="4717190" cy="446276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Unprofitable Segments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54" name="{Kpi_value}"/>
          <p:cNvSpPr txBox="1"/>
          <p:nvPr/>
        </p:nvSpPr>
        <p:spPr>
          <a:xfrm>
            <a:off x="13266010" y="3058638"/>
            <a:ext cx="4717190" cy="569387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>
            <a:spAutoFit/>
          </a:bodyPr>
          <a:lstStyle>
            <a:lvl1pPr algn="l">
              <a:defRPr sz="6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87.5%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1E4541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55" name="{Kpi_summary}"/>
          <p:cNvSpPr txBox="1"/>
          <p:nvPr/>
        </p:nvSpPr>
        <p:spPr>
          <a:xfrm>
            <a:off x="13266010" y="3929104"/>
            <a:ext cx="4488590" cy="384721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18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Market segments operating at negative gross margins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56" name="{Kpi_title}"/>
          <p:cNvSpPr txBox="1"/>
          <p:nvPr/>
        </p:nvSpPr>
        <p:spPr>
          <a:xfrm>
            <a:off x="13266010" y="4910640"/>
            <a:ext cx="4717190" cy="446276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Low Tier Volume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57" name="{Kpi_value}"/>
          <p:cNvSpPr txBox="1"/>
          <p:nvPr/>
        </p:nvSpPr>
        <p:spPr>
          <a:xfrm>
            <a:off x="13266009" y="5568976"/>
            <a:ext cx="4805859" cy="569387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>
            <a:spAutoFit/>
          </a:bodyPr>
          <a:lstStyle>
            <a:lvl1pPr algn="l">
              <a:defRPr sz="6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25.5%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1E4541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58" name="{Kpi_summary}"/>
          <p:cNvSpPr txBox="1"/>
          <p:nvPr/>
        </p:nvSpPr>
        <p:spPr>
          <a:xfrm>
            <a:off x="13266010" y="6439443"/>
            <a:ext cx="4488590" cy="384721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18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Total transaction volume in loss-making Low tier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59" name="{Kpi_title}"/>
          <p:cNvSpPr txBox="1"/>
          <p:nvPr/>
        </p:nvSpPr>
        <p:spPr>
          <a:xfrm>
            <a:off x="13266010" y="7420977"/>
            <a:ext cx="4717190" cy="446276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Medium-High Opportunity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60" name="{Kpi_value}"/>
          <p:cNvSpPr txBox="1"/>
          <p:nvPr/>
        </p:nvSpPr>
        <p:spPr>
          <a:xfrm>
            <a:off x="13266010" y="8079313"/>
            <a:ext cx="4821819" cy="569387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>
            <a:spAutoFit/>
          </a:bodyPr>
          <a:lstStyle>
            <a:lvl1pPr algn="l">
              <a:defRPr sz="6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3.04%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1E4541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61" name="{Kpi_summary}"/>
          <p:cNvSpPr txBox="1"/>
          <p:nvPr/>
        </p:nvSpPr>
        <p:spPr>
          <a:xfrm>
            <a:off x="13266010" y="8949779"/>
            <a:ext cx="4488590" cy="384721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18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Current share of profitable promotional segment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grpSp>
        <p:nvGrpSpPr>
          <p:cNvPr id="22" name="Group 2"/>
          <p:cNvGrpSpPr/>
          <p:nvPr/>
        </p:nvGrpSpPr>
        <p:grpSpPr>
          <a:xfrm>
            <a:off x="17259300" y="0"/>
            <a:ext cx="1028700" cy="1028700"/>
            <a:chOff x="0" y="0"/>
            <a:chExt cx="812800" cy="812800"/>
          </a:xfrm>
        </p:grpSpPr>
        <p:sp>
          <p:nvSpPr>
            <p:cNvPr id="2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2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14"/>
          <p:cNvGrpSpPr/>
          <p:nvPr/>
        </p:nvGrpSpPr>
        <p:grpSpPr>
          <a:xfrm>
            <a:off x="12117645" y="2623494"/>
            <a:ext cx="677751" cy="677751"/>
            <a:chOff x="0" y="0"/>
            <a:chExt cx="812800" cy="812800"/>
          </a:xfrm>
        </p:grpSpPr>
        <p:sp>
          <p:nvSpPr>
            <p:cNvPr id="26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27" name="TextBox 16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28" name="TextBox 18"/>
          <p:cNvSpPr txBox="1"/>
          <p:nvPr/>
        </p:nvSpPr>
        <p:spPr>
          <a:xfrm>
            <a:off x="12208465" y="2799491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grpSp>
        <p:nvGrpSpPr>
          <p:cNvPr id="29" name="Group 14"/>
          <p:cNvGrpSpPr/>
          <p:nvPr/>
        </p:nvGrpSpPr>
        <p:grpSpPr>
          <a:xfrm>
            <a:off x="12117645" y="5108462"/>
            <a:ext cx="677751" cy="677751"/>
            <a:chOff x="0" y="0"/>
            <a:chExt cx="812800" cy="812800"/>
          </a:xfrm>
        </p:grpSpPr>
        <p:sp>
          <p:nvSpPr>
            <p:cNvPr id="30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31" name="TextBox 16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32" name="TextBox 18"/>
          <p:cNvSpPr txBox="1"/>
          <p:nvPr/>
        </p:nvSpPr>
        <p:spPr>
          <a:xfrm>
            <a:off x="12208465" y="5284459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</a:t>
            </a:r>
            <a:r>
              <a:rPr lang="en-US" altLang="zh-CN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  <a:endParaRPr lang="en-US" sz="1800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33" name="Group 14"/>
          <p:cNvGrpSpPr/>
          <p:nvPr/>
        </p:nvGrpSpPr>
        <p:grpSpPr>
          <a:xfrm>
            <a:off x="12117645" y="7618799"/>
            <a:ext cx="677751" cy="677751"/>
            <a:chOff x="0" y="0"/>
            <a:chExt cx="812800" cy="812800"/>
          </a:xfrm>
        </p:grpSpPr>
        <p:sp>
          <p:nvSpPr>
            <p:cNvPr id="34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35" name="TextBox 16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36" name="TextBox 18"/>
          <p:cNvSpPr txBox="1"/>
          <p:nvPr/>
        </p:nvSpPr>
        <p:spPr>
          <a:xfrm>
            <a:off x="12208465" y="7794796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</a:t>
            </a:r>
            <a:r>
              <a:rPr lang="en-US" altLang="zh-CN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  <a:endParaRPr lang="en-US" sz="1800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pic>
        <p:nvPicPr>
          <p:cNvPr id="1012" name="Chart Image 13"/>
          <p:cNvPicPr/>
          <p:nvPr/>
        </p:nvPicPr>
        <p:blipFill>
          <a:blip r:embed="rId2"/>
          <a:stretch>
            <a:fillRect/>
          </a:stretch>
        </p:blipFill>
        <p:spPr>
          <a:xfrm>
            <a:off x="2176736" y="4573358"/>
            <a:ext cx="8124166" cy="495755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38CEAA-E314-5FF5-CC07-2CD830901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54BE2B-8984-3271-A545-4CFA226ABB37}"/>
              </a:ext>
            </a:extLst>
          </p:cNvPr>
          <p:cNvSpPr txBox="1"/>
          <p:nvPr/>
        </p:nvSpPr>
        <p:spPr>
          <a:xfrm>
            <a:off x="17373600" y="9639300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0C36A743-F48F-42A0-B807-931C6D6B8D9C}" type="slidenum">
              <a:rPr lang="en-ZA" smtClean="0"/>
              <a:t>14</a:t>
            </a:fld>
            <a:endParaRPr lang="en-ZA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9815A-49EC-860D-956D-03611FE18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">
            <a:extLst>
              <a:ext uri="{FF2B5EF4-FFF2-40B4-BE49-F238E27FC236}">
                <a16:creationId xmlns:a16="http://schemas.microsoft.com/office/drawing/2014/main" id="{E5A1E3E0-7484-CFDC-785D-5DC91C809C81}"/>
              </a:ext>
            </a:extLst>
          </p:cNvPr>
          <p:cNvGrpSpPr/>
          <p:nvPr/>
        </p:nvGrpSpPr>
        <p:grpSpPr>
          <a:xfrm>
            <a:off x="17259300" y="0"/>
            <a:ext cx="1028700" cy="1028700"/>
            <a:chOff x="0" y="0"/>
            <a:chExt cx="812800" cy="812800"/>
          </a:xfrm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9BBF9A55-37CF-B2FE-6489-EDB8A39A0FF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24" name="TextBox 4">
              <a:extLst>
                <a:ext uri="{FF2B5EF4-FFF2-40B4-BE49-F238E27FC236}">
                  <a16:creationId xmlns:a16="http://schemas.microsoft.com/office/drawing/2014/main" id="{44CC49D7-25FF-5C1B-9654-F40EF5D328CB}"/>
                </a:ext>
              </a:extLst>
            </p:cNvPr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30" name="AutoShape 20">
            <a:extLst>
              <a:ext uri="{FF2B5EF4-FFF2-40B4-BE49-F238E27FC236}">
                <a16:creationId xmlns:a16="http://schemas.microsoft.com/office/drawing/2014/main" id="{23C9B7C9-D9A3-1B9C-0795-5BB10289D31F}"/>
              </a:ext>
            </a:extLst>
          </p:cNvPr>
          <p:cNvSpPr/>
          <p:nvPr/>
        </p:nvSpPr>
        <p:spPr>
          <a:xfrm flipV="1">
            <a:off x="3200400" y="2281976"/>
            <a:ext cx="0" cy="6841573"/>
          </a:xfrm>
          <a:prstGeom prst="line">
            <a:avLst/>
          </a:prstGeom>
          <a:ln w="9525" cap="flat">
            <a:solidFill>
              <a:srgbClr val="1E454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{Paragraph_title}">
            <a:extLst>
              <a:ext uri="{FF2B5EF4-FFF2-40B4-BE49-F238E27FC236}">
                <a16:creationId xmlns:a16="http://schemas.microsoft.com/office/drawing/2014/main" id="{C2A2F350-D424-8B52-2A18-0E50386A23ED}"/>
              </a:ext>
            </a:extLst>
          </p:cNvPr>
          <p:cNvSpPr txBox="1"/>
          <p:nvPr/>
        </p:nvSpPr>
        <p:spPr>
          <a:xfrm>
            <a:off x="685800" y="1028700"/>
            <a:ext cx="16459198" cy="629920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28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Inter" pitchFamily="2" charset="0"/>
                <a:cs typeface="Poppins" pitchFamily="2" charset="77"/>
                <a:sym typeface="Helvetica Neue"/>
              </a:rPr>
              <a:t>Key Recommendations</a:t>
            </a:r>
          </a:p>
        </p:txBody>
      </p:sp>
      <p:sp>
        <p:nvSpPr>
          <p:cNvPr id="12" name="{Paragraph_title}">
            <a:extLst>
              <a:ext uri="{FF2B5EF4-FFF2-40B4-BE49-F238E27FC236}">
                <a16:creationId xmlns:a16="http://schemas.microsoft.com/office/drawing/2014/main" id="{1A51206C-7166-83BD-3ED3-BCC07082B656}"/>
              </a:ext>
            </a:extLst>
          </p:cNvPr>
          <p:cNvSpPr txBox="1"/>
          <p:nvPr/>
        </p:nvSpPr>
        <p:spPr>
          <a:xfrm>
            <a:off x="3875998" y="2281976"/>
            <a:ext cx="13383302" cy="445135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5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Optimise Pricing Within Identified Price Bands</a:t>
            </a:r>
            <a:endParaRPr kumimoji="0" lang="en-US" altLang="en-US" sz="2400" b="1" i="0" u="none" strike="noStrike" kern="0" cap="none" spc="0" normalizeH="0" baseline="0" noProof="0" dirty="0">
              <a:ln>
                <a:noFill/>
              </a:ln>
              <a:solidFill>
                <a:srgbClr val="1E4541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13" name="{Paragraph_content}">
            <a:extLst>
              <a:ext uri="{FF2B5EF4-FFF2-40B4-BE49-F238E27FC236}">
                <a16:creationId xmlns:a16="http://schemas.microsoft.com/office/drawing/2014/main" id="{4024D0D1-7B25-FAB8-6A9F-77A31650CF48}"/>
              </a:ext>
            </a:extLst>
          </p:cNvPr>
          <p:cNvSpPr txBox="1"/>
          <p:nvPr/>
        </p:nvSpPr>
        <p:spPr>
          <a:xfrm>
            <a:off x="3875998" y="2850449"/>
            <a:ext cx="13116599" cy="999490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/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kumimoji="0" lang="en-GB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Montserrat" pitchFamily="2" charset="77"/>
                <a:ea typeface="Helvetica Neue"/>
                <a:cs typeface="Helvetica Neue"/>
                <a:sym typeface="Helvetica Neue"/>
              </a:rPr>
              <a:t>Sales volume changes noticeably across specific unit-price ranges. Focus pricing within the strongest performing bands to maximise both demand and margin.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Montserrat" pitchFamily="2" charset="77"/>
              <a:ea typeface="Helvetica Neue"/>
              <a:cs typeface="Helvetica Neue"/>
              <a:sym typeface="Helvetica Neue"/>
            </a:endParaRPr>
          </a:p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Montserrat" pitchFamily="2" charset="77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" name="{Paragraph_title}">
            <a:extLst>
              <a:ext uri="{FF2B5EF4-FFF2-40B4-BE49-F238E27FC236}">
                <a16:creationId xmlns:a16="http://schemas.microsoft.com/office/drawing/2014/main" id="{1251940C-133E-9DC9-6827-B1ABC3ADB40B}"/>
              </a:ext>
            </a:extLst>
          </p:cNvPr>
          <p:cNvSpPr txBox="1"/>
          <p:nvPr/>
        </p:nvSpPr>
        <p:spPr>
          <a:xfrm>
            <a:off x="3875998" y="4728334"/>
            <a:ext cx="13383302" cy="445135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5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Review Low-Margin Periods Proactively</a:t>
            </a:r>
          </a:p>
        </p:txBody>
      </p:sp>
      <p:sp>
        <p:nvSpPr>
          <p:cNvPr id="15" name="{Paragraph_content}">
            <a:extLst>
              <a:ext uri="{FF2B5EF4-FFF2-40B4-BE49-F238E27FC236}">
                <a16:creationId xmlns:a16="http://schemas.microsoft.com/office/drawing/2014/main" id="{9DDBADBB-4B97-851E-AE46-72DA57E9C506}"/>
              </a:ext>
            </a:extLst>
          </p:cNvPr>
          <p:cNvSpPr txBox="1"/>
          <p:nvPr/>
        </p:nvSpPr>
        <p:spPr>
          <a:xfrm>
            <a:off x="3875998" y="5296807"/>
            <a:ext cx="13116599" cy="1306830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/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kumimoji="0" lang="en-GB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Montserrat" pitchFamily="2" charset="77"/>
                <a:ea typeface="Helvetica Neue"/>
                <a:cs typeface="Helvetica Neue"/>
                <a:sym typeface="Helvetica Neue"/>
              </a:rPr>
              <a:t>Gross Profit % trends show periods of margin weakness. Investigate cost movements, price changes, or operational issues during these dips to stabilise profitability.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Montserrat" pitchFamily="2" charset="77"/>
              <a:ea typeface="Helvetica Neue"/>
              <a:cs typeface="Helvetica Neue"/>
              <a:sym typeface="Helvetica Neue"/>
            </a:endParaRPr>
          </a:p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Montserrat" pitchFamily="2" charset="77"/>
              <a:ea typeface="Helvetica Neue"/>
              <a:cs typeface="Helvetica Neue"/>
              <a:sym typeface="Helvetica Neue"/>
            </a:endParaRPr>
          </a:p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Montserrat" pitchFamily="2" charset="77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" name="{Paragraph_title}">
            <a:extLst>
              <a:ext uri="{FF2B5EF4-FFF2-40B4-BE49-F238E27FC236}">
                <a16:creationId xmlns:a16="http://schemas.microsoft.com/office/drawing/2014/main" id="{13914A12-6FED-FA3D-151F-68EB5613DFCC}"/>
              </a:ext>
            </a:extLst>
          </p:cNvPr>
          <p:cNvSpPr txBox="1"/>
          <p:nvPr/>
        </p:nvSpPr>
        <p:spPr>
          <a:xfrm>
            <a:off x="3875998" y="7174692"/>
            <a:ext cx="13383302" cy="445135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5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Leverage Seasonal or High-Demand Months</a:t>
            </a:r>
            <a:endParaRPr kumimoji="0" lang="en-US" altLang="en-US" sz="2400" b="1" i="0" u="none" strike="noStrike" kern="0" cap="none" spc="0" normalizeH="0" baseline="0" noProof="0" dirty="0">
              <a:ln>
                <a:noFill/>
              </a:ln>
              <a:solidFill>
                <a:srgbClr val="1E4541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17" name="{Paragraph_content}">
            <a:extLst>
              <a:ext uri="{FF2B5EF4-FFF2-40B4-BE49-F238E27FC236}">
                <a16:creationId xmlns:a16="http://schemas.microsoft.com/office/drawing/2014/main" id="{C0D19873-AA67-4A35-2261-F0CC75F7E806}"/>
              </a:ext>
            </a:extLst>
          </p:cNvPr>
          <p:cNvSpPr txBox="1"/>
          <p:nvPr/>
        </p:nvSpPr>
        <p:spPr>
          <a:xfrm>
            <a:off x="3875998" y="7743165"/>
            <a:ext cx="13116599" cy="999490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/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kumimoji="0" lang="en-GB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Montserrat" pitchFamily="2" charset="77"/>
                <a:ea typeface="Helvetica Neue"/>
                <a:cs typeface="Helvetica Neue"/>
                <a:sym typeface="Helvetica Neue"/>
              </a:rPr>
              <a:t>Periods of stronger sales should guide stock allocation, promotional timing, and supply planning to prevent stockouts and support revenue capture.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Montserrat" pitchFamily="2" charset="77"/>
              <a:ea typeface="Helvetica Neue"/>
              <a:cs typeface="Helvetica Neue"/>
              <a:sym typeface="Helvetica Neue"/>
            </a:endParaRPr>
          </a:p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Montserrat" pitchFamily="2" charset="77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1" name="Group 14">
            <a:extLst>
              <a:ext uri="{FF2B5EF4-FFF2-40B4-BE49-F238E27FC236}">
                <a16:creationId xmlns:a16="http://schemas.microsoft.com/office/drawing/2014/main" id="{6711AF57-47FC-4DAB-0313-C85AE3BCCFBA}"/>
              </a:ext>
            </a:extLst>
          </p:cNvPr>
          <p:cNvGrpSpPr/>
          <p:nvPr/>
        </p:nvGrpSpPr>
        <p:grpSpPr>
          <a:xfrm>
            <a:off x="2521573" y="2281976"/>
            <a:ext cx="677751" cy="677751"/>
            <a:chOff x="0" y="0"/>
            <a:chExt cx="812800" cy="812800"/>
          </a:xfrm>
        </p:grpSpPr>
        <p:sp>
          <p:nvSpPr>
            <p:cNvPr id="31" name="Freeform 15">
              <a:extLst>
                <a:ext uri="{FF2B5EF4-FFF2-40B4-BE49-F238E27FC236}">
                  <a16:creationId xmlns:a16="http://schemas.microsoft.com/office/drawing/2014/main" id="{45AD4986-E874-9267-2034-072F3687914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32" name="TextBox 16">
              <a:extLst>
                <a:ext uri="{FF2B5EF4-FFF2-40B4-BE49-F238E27FC236}">
                  <a16:creationId xmlns:a16="http://schemas.microsoft.com/office/drawing/2014/main" id="{A650A245-1709-01AA-EFDA-CBE9751BE3C3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33" name="TextBox 18">
            <a:extLst>
              <a:ext uri="{FF2B5EF4-FFF2-40B4-BE49-F238E27FC236}">
                <a16:creationId xmlns:a16="http://schemas.microsoft.com/office/drawing/2014/main" id="{E8FB748F-EB3E-FA88-09F2-A2AA2B2B0968}"/>
              </a:ext>
            </a:extLst>
          </p:cNvPr>
          <p:cNvSpPr txBox="1"/>
          <p:nvPr/>
        </p:nvSpPr>
        <p:spPr>
          <a:xfrm>
            <a:off x="2612393" y="2457973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grpSp>
        <p:nvGrpSpPr>
          <p:cNvPr id="34" name="Group 14">
            <a:extLst>
              <a:ext uri="{FF2B5EF4-FFF2-40B4-BE49-F238E27FC236}">
                <a16:creationId xmlns:a16="http://schemas.microsoft.com/office/drawing/2014/main" id="{6F739B98-1083-622D-5C06-0ED70FE57F6E}"/>
              </a:ext>
            </a:extLst>
          </p:cNvPr>
          <p:cNvGrpSpPr/>
          <p:nvPr/>
        </p:nvGrpSpPr>
        <p:grpSpPr>
          <a:xfrm>
            <a:off x="2523726" y="4729332"/>
            <a:ext cx="677751" cy="677751"/>
            <a:chOff x="0" y="0"/>
            <a:chExt cx="812800" cy="812800"/>
          </a:xfrm>
        </p:grpSpPr>
        <p:sp>
          <p:nvSpPr>
            <p:cNvPr id="35" name="Freeform 15">
              <a:extLst>
                <a:ext uri="{FF2B5EF4-FFF2-40B4-BE49-F238E27FC236}">
                  <a16:creationId xmlns:a16="http://schemas.microsoft.com/office/drawing/2014/main" id="{47BDD027-7C87-037E-E07C-4A4DB119F8B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36" name="TextBox 16">
              <a:extLst>
                <a:ext uri="{FF2B5EF4-FFF2-40B4-BE49-F238E27FC236}">
                  <a16:creationId xmlns:a16="http://schemas.microsoft.com/office/drawing/2014/main" id="{3920C25F-22E0-0A0C-95BD-C9FCACE54B6E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37" name="TextBox 18">
            <a:extLst>
              <a:ext uri="{FF2B5EF4-FFF2-40B4-BE49-F238E27FC236}">
                <a16:creationId xmlns:a16="http://schemas.microsoft.com/office/drawing/2014/main" id="{33E675BD-C6FC-8742-7AE8-73C8227F4FC4}"/>
              </a:ext>
            </a:extLst>
          </p:cNvPr>
          <p:cNvSpPr txBox="1"/>
          <p:nvPr/>
        </p:nvSpPr>
        <p:spPr>
          <a:xfrm>
            <a:off x="2614546" y="4905329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</a:t>
            </a:r>
            <a:r>
              <a:rPr lang="en-US" altLang="zh-CN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  <a:endParaRPr lang="en-US" sz="1800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38" name="Group 14">
            <a:extLst>
              <a:ext uri="{FF2B5EF4-FFF2-40B4-BE49-F238E27FC236}">
                <a16:creationId xmlns:a16="http://schemas.microsoft.com/office/drawing/2014/main" id="{73E409A1-7994-67B3-28F8-4EA8AF63338C}"/>
              </a:ext>
            </a:extLst>
          </p:cNvPr>
          <p:cNvGrpSpPr/>
          <p:nvPr/>
        </p:nvGrpSpPr>
        <p:grpSpPr>
          <a:xfrm>
            <a:off x="2522111" y="7169666"/>
            <a:ext cx="677751" cy="677751"/>
            <a:chOff x="0" y="0"/>
            <a:chExt cx="812800" cy="812800"/>
          </a:xfrm>
        </p:grpSpPr>
        <p:sp>
          <p:nvSpPr>
            <p:cNvPr id="39" name="Freeform 15">
              <a:extLst>
                <a:ext uri="{FF2B5EF4-FFF2-40B4-BE49-F238E27FC236}">
                  <a16:creationId xmlns:a16="http://schemas.microsoft.com/office/drawing/2014/main" id="{CC10540D-EC99-1EEF-6A6F-FE189768F8D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40" name="TextBox 16">
              <a:extLst>
                <a:ext uri="{FF2B5EF4-FFF2-40B4-BE49-F238E27FC236}">
                  <a16:creationId xmlns:a16="http://schemas.microsoft.com/office/drawing/2014/main" id="{D5321DA3-8C5E-0F0C-B79E-0C1A12ED26E0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41" name="TextBox 18">
            <a:extLst>
              <a:ext uri="{FF2B5EF4-FFF2-40B4-BE49-F238E27FC236}">
                <a16:creationId xmlns:a16="http://schemas.microsoft.com/office/drawing/2014/main" id="{1597676A-3B30-9CC0-B880-7DFE4180F6DD}"/>
              </a:ext>
            </a:extLst>
          </p:cNvPr>
          <p:cNvSpPr txBox="1"/>
          <p:nvPr/>
        </p:nvSpPr>
        <p:spPr>
          <a:xfrm>
            <a:off x="2612931" y="7345663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</a:t>
            </a:r>
            <a:r>
              <a:rPr lang="en-US" altLang="zh-CN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  <a:endParaRPr lang="en-US" sz="1800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FD14C5-737F-CC4A-40C4-402D33191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7A9402-AB84-2702-0B16-E60F7E1E4248}"/>
              </a:ext>
            </a:extLst>
          </p:cNvPr>
          <p:cNvSpPr txBox="1"/>
          <p:nvPr/>
        </p:nvSpPr>
        <p:spPr>
          <a:xfrm>
            <a:off x="17373600" y="9639300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0C36A743-F48F-42A0-B807-931C6D6B8D9C}" type="slidenum">
              <a:rPr lang="en-ZA" smtClean="0"/>
              <a:t>15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0295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21CA7-7A4A-B135-1909-49549BA95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">
            <a:extLst>
              <a:ext uri="{FF2B5EF4-FFF2-40B4-BE49-F238E27FC236}">
                <a16:creationId xmlns:a16="http://schemas.microsoft.com/office/drawing/2014/main" id="{3C0636FA-5F99-850F-DDBB-E0BF589FE44F}"/>
              </a:ext>
            </a:extLst>
          </p:cNvPr>
          <p:cNvGrpSpPr/>
          <p:nvPr/>
        </p:nvGrpSpPr>
        <p:grpSpPr>
          <a:xfrm>
            <a:off x="17259300" y="0"/>
            <a:ext cx="1028700" cy="1028700"/>
            <a:chOff x="0" y="0"/>
            <a:chExt cx="812800" cy="812800"/>
          </a:xfrm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4B7FFD27-FB2C-B349-92FA-CC136BF60BA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24" name="TextBox 4">
              <a:extLst>
                <a:ext uri="{FF2B5EF4-FFF2-40B4-BE49-F238E27FC236}">
                  <a16:creationId xmlns:a16="http://schemas.microsoft.com/office/drawing/2014/main" id="{42896084-9ABF-551A-658F-72BDFBA0B3CC}"/>
                </a:ext>
              </a:extLst>
            </p:cNvPr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30" name="AutoShape 20">
            <a:extLst>
              <a:ext uri="{FF2B5EF4-FFF2-40B4-BE49-F238E27FC236}">
                <a16:creationId xmlns:a16="http://schemas.microsoft.com/office/drawing/2014/main" id="{D6E8E774-B8CC-75A1-8CF2-B4F625A29282}"/>
              </a:ext>
            </a:extLst>
          </p:cNvPr>
          <p:cNvSpPr/>
          <p:nvPr/>
        </p:nvSpPr>
        <p:spPr>
          <a:xfrm flipV="1">
            <a:off x="3200400" y="2281976"/>
            <a:ext cx="0" cy="6841573"/>
          </a:xfrm>
          <a:prstGeom prst="line">
            <a:avLst/>
          </a:prstGeom>
          <a:ln w="9525" cap="flat">
            <a:solidFill>
              <a:srgbClr val="1E454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{Paragraph_title}">
            <a:extLst>
              <a:ext uri="{FF2B5EF4-FFF2-40B4-BE49-F238E27FC236}">
                <a16:creationId xmlns:a16="http://schemas.microsoft.com/office/drawing/2014/main" id="{733D207D-04A1-2EFF-EF39-A8CEB6B009C9}"/>
              </a:ext>
            </a:extLst>
          </p:cNvPr>
          <p:cNvSpPr txBox="1"/>
          <p:nvPr/>
        </p:nvSpPr>
        <p:spPr>
          <a:xfrm>
            <a:off x="685800" y="1028700"/>
            <a:ext cx="16459198" cy="629920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28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Inter" pitchFamily="2" charset="0"/>
                <a:cs typeface="Poppins" pitchFamily="2" charset="77"/>
                <a:sym typeface="Helvetica Neue"/>
              </a:rPr>
              <a:t>Key Recommendations</a:t>
            </a:r>
          </a:p>
        </p:txBody>
      </p:sp>
      <p:sp>
        <p:nvSpPr>
          <p:cNvPr id="12" name="{Paragraph_title}">
            <a:extLst>
              <a:ext uri="{FF2B5EF4-FFF2-40B4-BE49-F238E27FC236}">
                <a16:creationId xmlns:a16="http://schemas.microsoft.com/office/drawing/2014/main" id="{63AF6B42-0554-D69C-05D9-86D54462EDCB}"/>
              </a:ext>
            </a:extLst>
          </p:cNvPr>
          <p:cNvSpPr txBox="1"/>
          <p:nvPr/>
        </p:nvSpPr>
        <p:spPr>
          <a:xfrm>
            <a:off x="3875998" y="2281976"/>
            <a:ext cx="13383302" cy="445135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5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Strengthen Margin Through Cost Management</a:t>
            </a:r>
            <a:endParaRPr kumimoji="0" lang="en-US" altLang="en-US" sz="2400" b="1" i="0" u="none" strike="noStrike" kern="0" cap="none" spc="0" normalizeH="0" baseline="0" noProof="0" dirty="0">
              <a:ln>
                <a:noFill/>
              </a:ln>
              <a:solidFill>
                <a:srgbClr val="1E4541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13" name="{Paragraph_content}">
            <a:extLst>
              <a:ext uri="{FF2B5EF4-FFF2-40B4-BE49-F238E27FC236}">
                <a16:creationId xmlns:a16="http://schemas.microsoft.com/office/drawing/2014/main" id="{C730A414-9DBA-A62C-BEB9-B9AE88C5A00F}"/>
              </a:ext>
            </a:extLst>
          </p:cNvPr>
          <p:cNvSpPr txBox="1"/>
          <p:nvPr/>
        </p:nvSpPr>
        <p:spPr>
          <a:xfrm>
            <a:off x="3875998" y="2850449"/>
            <a:ext cx="13116599" cy="999490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/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kumimoji="0" lang="en-GB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Montserrat" pitchFamily="2" charset="77"/>
                <a:ea typeface="Helvetica Neue"/>
                <a:cs typeface="Helvetica Neue"/>
                <a:sym typeface="Helvetica Neue"/>
              </a:rPr>
              <a:t>Sales volume changes noticeably across specific unit-price ranges. Focus pricing within the strongest performing bands to maximise both demand and margin.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Montserrat" pitchFamily="2" charset="77"/>
              <a:ea typeface="Helvetica Neue"/>
              <a:cs typeface="Helvetica Neue"/>
              <a:sym typeface="Helvetica Neue"/>
            </a:endParaRPr>
          </a:p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Montserrat" pitchFamily="2" charset="77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" name="{Paragraph_title}">
            <a:extLst>
              <a:ext uri="{FF2B5EF4-FFF2-40B4-BE49-F238E27FC236}">
                <a16:creationId xmlns:a16="http://schemas.microsoft.com/office/drawing/2014/main" id="{AE61CBF9-723E-8795-E6E5-EA20FF78B173}"/>
              </a:ext>
            </a:extLst>
          </p:cNvPr>
          <p:cNvSpPr txBox="1"/>
          <p:nvPr/>
        </p:nvSpPr>
        <p:spPr>
          <a:xfrm>
            <a:off x="3875998" y="4728334"/>
            <a:ext cx="13383302" cy="445135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5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Use Elasticity Insights for Pricing Strategy</a:t>
            </a:r>
            <a:endParaRPr kumimoji="0" lang="en-US" altLang="en-US" sz="2400" b="1" i="0" u="none" strike="noStrike" kern="0" cap="none" spc="0" normalizeH="0" baseline="0" noProof="0" dirty="0">
              <a:ln>
                <a:noFill/>
              </a:ln>
              <a:solidFill>
                <a:srgbClr val="1E4541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15" name="{Paragraph_content}">
            <a:extLst>
              <a:ext uri="{FF2B5EF4-FFF2-40B4-BE49-F238E27FC236}">
                <a16:creationId xmlns:a16="http://schemas.microsoft.com/office/drawing/2014/main" id="{02ACF7C0-F2E8-836C-EDC7-535B345A73FF}"/>
              </a:ext>
            </a:extLst>
          </p:cNvPr>
          <p:cNvSpPr txBox="1"/>
          <p:nvPr/>
        </p:nvSpPr>
        <p:spPr>
          <a:xfrm>
            <a:off x="3875998" y="5296807"/>
            <a:ext cx="13116599" cy="692497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/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kumimoji="0" lang="en-GB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Montserrat" pitchFamily="2" charset="77"/>
                <a:ea typeface="Helvetica Neue"/>
                <a:cs typeface="Helvetica Neue"/>
                <a:sym typeface="Helvetica Neue"/>
              </a:rPr>
              <a:t>Scatter and trend comparisons reveal how sensitive demand is to price movement. Use this to decide when price increases are viable—and when they may suppress volume.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Montserrat" pitchFamily="2" charset="77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" name="{Paragraph_title}">
            <a:extLst>
              <a:ext uri="{FF2B5EF4-FFF2-40B4-BE49-F238E27FC236}">
                <a16:creationId xmlns:a16="http://schemas.microsoft.com/office/drawing/2014/main" id="{531568B6-097F-1884-67E3-13472E47C9B8}"/>
              </a:ext>
            </a:extLst>
          </p:cNvPr>
          <p:cNvSpPr txBox="1"/>
          <p:nvPr/>
        </p:nvSpPr>
        <p:spPr>
          <a:xfrm>
            <a:off x="3875998" y="7174692"/>
            <a:ext cx="13383302" cy="445135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5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1E4541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Introduce Consistent KPI Monitoring</a:t>
            </a:r>
            <a:endParaRPr kumimoji="0" lang="en-US" altLang="en-US" sz="2400" b="1" i="0" u="none" strike="noStrike" kern="0" cap="none" spc="0" normalizeH="0" baseline="0" noProof="0" dirty="0">
              <a:ln>
                <a:noFill/>
              </a:ln>
              <a:solidFill>
                <a:srgbClr val="1E4541"/>
              </a:solidFill>
              <a:effectLst/>
              <a:uLnTx/>
              <a:uFillTx/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17" name="{Paragraph_content}">
            <a:extLst>
              <a:ext uri="{FF2B5EF4-FFF2-40B4-BE49-F238E27FC236}">
                <a16:creationId xmlns:a16="http://schemas.microsoft.com/office/drawing/2014/main" id="{28273351-5282-0418-3BB2-A8E6D74FEEB7}"/>
              </a:ext>
            </a:extLst>
          </p:cNvPr>
          <p:cNvSpPr txBox="1"/>
          <p:nvPr/>
        </p:nvSpPr>
        <p:spPr>
          <a:xfrm>
            <a:off x="3875998" y="7743165"/>
            <a:ext cx="13116599" cy="692497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/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kumimoji="0" lang="en-GB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Montserrat" pitchFamily="2" charset="77"/>
                <a:ea typeface="Helvetica Neue"/>
                <a:cs typeface="Helvetica Neue"/>
                <a:sym typeface="Helvetica Neue"/>
              </a:rPr>
              <a:t>Track Average Unit Price, GP%, Quantity, and GP per Unit monthly to detect early shifts in performance and improve decision-making.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Montserrat" pitchFamily="2" charset="77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1" name="Group 14">
            <a:extLst>
              <a:ext uri="{FF2B5EF4-FFF2-40B4-BE49-F238E27FC236}">
                <a16:creationId xmlns:a16="http://schemas.microsoft.com/office/drawing/2014/main" id="{37DC3E97-CAF1-FA70-487D-708B7F16DD51}"/>
              </a:ext>
            </a:extLst>
          </p:cNvPr>
          <p:cNvGrpSpPr/>
          <p:nvPr/>
        </p:nvGrpSpPr>
        <p:grpSpPr>
          <a:xfrm>
            <a:off x="2521573" y="2281976"/>
            <a:ext cx="677751" cy="677751"/>
            <a:chOff x="0" y="0"/>
            <a:chExt cx="812800" cy="812800"/>
          </a:xfrm>
        </p:grpSpPr>
        <p:sp>
          <p:nvSpPr>
            <p:cNvPr id="31" name="Freeform 15">
              <a:extLst>
                <a:ext uri="{FF2B5EF4-FFF2-40B4-BE49-F238E27FC236}">
                  <a16:creationId xmlns:a16="http://schemas.microsoft.com/office/drawing/2014/main" id="{68F40B0E-28E0-8659-7E8F-260C1E9437A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32" name="TextBox 16">
              <a:extLst>
                <a:ext uri="{FF2B5EF4-FFF2-40B4-BE49-F238E27FC236}">
                  <a16:creationId xmlns:a16="http://schemas.microsoft.com/office/drawing/2014/main" id="{DDF99DE0-3D4B-EC55-C972-10A3D2C7A75B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33" name="TextBox 18">
            <a:extLst>
              <a:ext uri="{FF2B5EF4-FFF2-40B4-BE49-F238E27FC236}">
                <a16:creationId xmlns:a16="http://schemas.microsoft.com/office/drawing/2014/main" id="{4ED5524F-16E6-40C5-4CFE-D5FA4877680B}"/>
              </a:ext>
            </a:extLst>
          </p:cNvPr>
          <p:cNvSpPr txBox="1"/>
          <p:nvPr/>
        </p:nvSpPr>
        <p:spPr>
          <a:xfrm>
            <a:off x="2612393" y="2457973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grpSp>
        <p:nvGrpSpPr>
          <p:cNvPr id="34" name="Group 14">
            <a:extLst>
              <a:ext uri="{FF2B5EF4-FFF2-40B4-BE49-F238E27FC236}">
                <a16:creationId xmlns:a16="http://schemas.microsoft.com/office/drawing/2014/main" id="{D7179B8D-0DC3-07F1-F095-346A56DFB18F}"/>
              </a:ext>
            </a:extLst>
          </p:cNvPr>
          <p:cNvGrpSpPr/>
          <p:nvPr/>
        </p:nvGrpSpPr>
        <p:grpSpPr>
          <a:xfrm>
            <a:off x="2523726" y="4729332"/>
            <a:ext cx="677751" cy="677751"/>
            <a:chOff x="0" y="0"/>
            <a:chExt cx="812800" cy="812800"/>
          </a:xfrm>
        </p:grpSpPr>
        <p:sp>
          <p:nvSpPr>
            <p:cNvPr id="35" name="Freeform 15">
              <a:extLst>
                <a:ext uri="{FF2B5EF4-FFF2-40B4-BE49-F238E27FC236}">
                  <a16:creationId xmlns:a16="http://schemas.microsoft.com/office/drawing/2014/main" id="{731961DC-81F3-143A-4C97-193F7F721CC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36" name="TextBox 16">
              <a:extLst>
                <a:ext uri="{FF2B5EF4-FFF2-40B4-BE49-F238E27FC236}">
                  <a16:creationId xmlns:a16="http://schemas.microsoft.com/office/drawing/2014/main" id="{5C254B23-7B76-25C0-F4F4-9342BB7B43B9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37" name="TextBox 18">
            <a:extLst>
              <a:ext uri="{FF2B5EF4-FFF2-40B4-BE49-F238E27FC236}">
                <a16:creationId xmlns:a16="http://schemas.microsoft.com/office/drawing/2014/main" id="{6D67C0A8-AB64-55F5-DD3F-5530D7A75214}"/>
              </a:ext>
            </a:extLst>
          </p:cNvPr>
          <p:cNvSpPr txBox="1"/>
          <p:nvPr/>
        </p:nvSpPr>
        <p:spPr>
          <a:xfrm>
            <a:off x="2614546" y="4905329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</a:t>
            </a:r>
            <a:r>
              <a:rPr lang="en-US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  <a:endParaRPr lang="en-US" sz="1800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38" name="Group 14">
            <a:extLst>
              <a:ext uri="{FF2B5EF4-FFF2-40B4-BE49-F238E27FC236}">
                <a16:creationId xmlns:a16="http://schemas.microsoft.com/office/drawing/2014/main" id="{4A22A98C-A007-6292-8489-1F564F2BE210}"/>
              </a:ext>
            </a:extLst>
          </p:cNvPr>
          <p:cNvGrpSpPr/>
          <p:nvPr/>
        </p:nvGrpSpPr>
        <p:grpSpPr>
          <a:xfrm>
            <a:off x="2522111" y="7169666"/>
            <a:ext cx="677751" cy="677751"/>
            <a:chOff x="0" y="0"/>
            <a:chExt cx="812800" cy="812800"/>
          </a:xfrm>
        </p:grpSpPr>
        <p:sp>
          <p:nvSpPr>
            <p:cNvPr id="39" name="Freeform 15">
              <a:extLst>
                <a:ext uri="{FF2B5EF4-FFF2-40B4-BE49-F238E27FC236}">
                  <a16:creationId xmlns:a16="http://schemas.microsoft.com/office/drawing/2014/main" id="{78E213E1-BDB1-F677-2495-16E80A26BC7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40" name="TextBox 16">
              <a:extLst>
                <a:ext uri="{FF2B5EF4-FFF2-40B4-BE49-F238E27FC236}">
                  <a16:creationId xmlns:a16="http://schemas.microsoft.com/office/drawing/2014/main" id="{B7F12652-734A-BC4E-C2E4-533C6D159BBB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41" name="TextBox 18">
            <a:extLst>
              <a:ext uri="{FF2B5EF4-FFF2-40B4-BE49-F238E27FC236}">
                <a16:creationId xmlns:a16="http://schemas.microsoft.com/office/drawing/2014/main" id="{CC953CEC-E7CA-B434-9D79-D272026B2628}"/>
              </a:ext>
            </a:extLst>
          </p:cNvPr>
          <p:cNvSpPr txBox="1"/>
          <p:nvPr/>
        </p:nvSpPr>
        <p:spPr>
          <a:xfrm>
            <a:off x="2612931" y="7345663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</a:t>
            </a:r>
            <a:r>
              <a:rPr lang="en-US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</a:t>
            </a:r>
            <a:endParaRPr lang="en-US" sz="1800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9580EE-89A0-D7F3-2A51-440C378E1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6E3E21-D803-3A68-BA63-1A6C162F9870}"/>
              </a:ext>
            </a:extLst>
          </p:cNvPr>
          <p:cNvSpPr txBox="1"/>
          <p:nvPr/>
        </p:nvSpPr>
        <p:spPr>
          <a:xfrm>
            <a:off x="17373600" y="9639300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0C36A743-F48F-42A0-B807-931C6D6B8D9C}" type="slidenum">
              <a:rPr lang="en-ZA" smtClean="0"/>
              <a:t>16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45675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DCD65-0761-DFFE-7EE1-E67A20D5F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4">
            <a:extLst>
              <a:ext uri="{FF2B5EF4-FFF2-40B4-BE49-F238E27FC236}">
                <a16:creationId xmlns:a16="http://schemas.microsoft.com/office/drawing/2014/main" id="{87D734B6-154F-FD05-9B89-BEAE1BE431CB}"/>
              </a:ext>
            </a:extLst>
          </p:cNvPr>
          <p:cNvSpPr/>
          <p:nvPr/>
        </p:nvSpPr>
        <p:spPr>
          <a:xfrm>
            <a:off x="0" y="1260579"/>
            <a:ext cx="18288000" cy="3174656"/>
          </a:xfrm>
          <a:custGeom>
            <a:avLst/>
            <a:gdLst/>
            <a:ahLst/>
            <a:cxnLst/>
            <a:rect l="l" t="t" r="r" b="b"/>
            <a:pathLst>
              <a:path w="14449778" h="2508371">
                <a:moveTo>
                  <a:pt x="0" y="0"/>
                </a:moveTo>
                <a:lnTo>
                  <a:pt x="14449778" y="0"/>
                </a:lnTo>
                <a:lnTo>
                  <a:pt x="14449778" y="2508371"/>
                </a:lnTo>
                <a:lnTo>
                  <a:pt x="0" y="2508371"/>
                </a:lnTo>
                <a:close/>
              </a:path>
            </a:pathLst>
          </a:custGeom>
          <a:solidFill>
            <a:srgbClr val="1E4541">
              <a:alpha val="80000"/>
            </a:srgbClr>
          </a:solidFill>
        </p:spPr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414C5209-C559-EC9C-6D93-1AA0E826025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9729CA3-4ED9-A1AF-B98D-3CB913486CCC}"/>
              </a:ext>
            </a:extLst>
          </p:cNvPr>
          <p:cNvGrpSpPr/>
          <p:nvPr/>
        </p:nvGrpSpPr>
        <p:grpSpPr>
          <a:xfrm>
            <a:off x="17259300" y="0"/>
            <a:ext cx="1028700" cy="1028700"/>
            <a:chOff x="0" y="0"/>
            <a:chExt cx="812800" cy="8128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AE28414-6277-DED2-8627-14FD9A8358B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E4541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624700B-83D9-D951-90A0-88DB437FC722}"/>
                </a:ext>
              </a:extLst>
            </p:cNvPr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4EA06DD4-FEFA-6348-26B9-8A030D198B8D}"/>
              </a:ext>
            </a:extLst>
          </p:cNvPr>
          <p:cNvSpPr txBox="1"/>
          <p:nvPr/>
        </p:nvSpPr>
        <p:spPr>
          <a:xfrm>
            <a:off x="1066800" y="1785116"/>
            <a:ext cx="15925800" cy="1951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340"/>
              </a:lnSpc>
              <a:spcBef>
                <a:spcPct val="0"/>
              </a:spcBef>
            </a:pPr>
            <a:r>
              <a:rPr lang="en-US" sz="8000" dirty="0">
                <a:solidFill>
                  <a:srgbClr val="1E4541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id="9" name="{KPI_group_title}">
            <a:extLst>
              <a:ext uri="{FF2B5EF4-FFF2-40B4-BE49-F238E27FC236}">
                <a16:creationId xmlns:a16="http://schemas.microsoft.com/office/drawing/2014/main" id="{A2D1BC7C-6CAB-78F3-EBD2-89B2533E631A}"/>
              </a:ext>
            </a:extLst>
          </p:cNvPr>
          <p:cNvSpPr txBox="1"/>
          <p:nvPr/>
        </p:nvSpPr>
        <p:spPr>
          <a:xfrm>
            <a:off x="15925800" y="9182100"/>
            <a:ext cx="2971800" cy="384721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28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2025-11-16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520BC-19B2-6B02-1E66-259667A18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677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1385</Words>
  <Application>Microsoft Office PowerPoint</Application>
  <PresentationFormat>Custom</PresentationFormat>
  <Paragraphs>238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Poppins</vt:lpstr>
      <vt:lpstr>Aptos</vt:lpstr>
      <vt:lpstr>Poppins Bold</vt:lpstr>
      <vt:lpstr>Calibri</vt:lpstr>
      <vt:lpstr>Montserrat</vt:lpstr>
      <vt:lpstr>Arial</vt:lpstr>
      <vt:lpstr>Open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Modern Conservation Presentation</dc:title>
  <dc:creator>Catherine Maloa</dc:creator>
  <cp:lastModifiedBy>Catherine Maloa</cp:lastModifiedBy>
  <cp:revision>66</cp:revision>
  <dcterms:created xsi:type="dcterms:W3CDTF">2025-08-02T12:02:24Z</dcterms:created>
  <dcterms:modified xsi:type="dcterms:W3CDTF">2025-11-17T18:15:16Z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620F181CC784556947ED8D685D9515EB_42</vt:lpwstr>
  </property>
  <property fmtid="{D5CDD505-2E9C-101B-9397-08002B2CF9AE}" pid="3" name="KSOProductBuildVer">
    <vt:lpwstr>1033-6.11.0.8608</vt:lpwstr>
  </property>
</Properties>
</file>